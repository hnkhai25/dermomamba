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60" r:id="rId5"/>
    <p:sldId id="261" r:id="rId6"/>
    <p:sldId id="262" r:id="rId7"/>
    <p:sldId id="259"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469" autoAdjust="0"/>
  </p:normalViewPr>
  <p:slideViewPr>
    <p:cSldViewPr snapToGrid="0">
      <p:cViewPr varScale="1">
        <p:scale>
          <a:sx n="58" d="100"/>
          <a:sy n="58" d="100"/>
        </p:scale>
        <p:origin x="96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61DAB-5597-4472-A6C2-D153A96412DB}"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9A95-A3A4-4360-A42D-7FE47A333A7F}" type="slidenum">
              <a:rPr lang="en-US" smtClean="0"/>
              <a:t>‹#›</a:t>
            </a:fld>
            <a:endParaRPr lang="en-US"/>
          </a:p>
        </p:txBody>
      </p:sp>
    </p:spTree>
    <p:extLst>
      <p:ext uri="{BB962C8B-B14F-4D97-AF65-F5344CB8AC3E}">
        <p14:creationId xmlns:p14="http://schemas.microsoft.com/office/powerpoint/2010/main" val="3548213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a:t>Trí tuệ con người gồm hai loại tri thức: </a:t>
            </a:r>
            <a:r>
              <a:rPr lang="vi-VN" b="1"/>
              <a:t>declarative (know-what)</a:t>
            </a:r>
            <a:r>
              <a:rPr lang="vi-VN"/>
              <a:t> và </a:t>
            </a:r>
            <a:r>
              <a:rPr lang="vi-VN" b="1"/>
              <a:t>procedural (know-how)</a:t>
            </a:r>
            <a:r>
              <a:rPr lang="vi-VN"/>
              <a:t>, cùng phối hợp để giải quyết các tác vụ phức tạp. </a:t>
            </a:r>
          </a:p>
          <a:p>
            <a:pPr marL="171450" indent="-171450">
              <a:buFont typeface="Arial" panose="020B0604020202020204" pitchFamily="34" charset="0"/>
              <a:buChar char="•"/>
            </a:pPr>
            <a:r>
              <a:rPr lang="vi-VN"/>
              <a:t>Trong bài toán điều khiển thiết bị di động, declarative giúp quyết định “làm gì”, còn procedural giúp thực hiện chính xác các thao tác như click, swipe, nhập liệu. </a:t>
            </a:r>
          </a:p>
          <a:p>
            <a:pPr marL="171450" indent="-171450">
              <a:buFont typeface="Arial" panose="020B0604020202020204" pitchFamily="34" charset="0"/>
              <a:buChar char="•"/>
            </a:pPr>
            <a:r>
              <a:rPr lang="vi-VN"/>
              <a:t>Các phương pháp hiện tại gồm </a:t>
            </a:r>
            <a:r>
              <a:rPr lang="vi-VN" b="1"/>
              <a:t>training-free agents</a:t>
            </a:r>
            <a:r>
              <a:rPr lang="vi-VN"/>
              <a:t> (dựa vào prompt) và </a:t>
            </a:r>
            <a:r>
              <a:rPr lang="vi-VN" b="1"/>
              <a:t>learning-based agents</a:t>
            </a:r>
            <a:r>
              <a:rPr lang="vi-VN"/>
              <a:t> (SFT/RL), nhưng đều có hạn chế về hiệu năng hoặc khả năng tổng quát. </a:t>
            </a:r>
          </a:p>
          <a:p>
            <a:pPr marL="171450" indent="-171450">
              <a:buFont typeface="Arial" panose="020B0604020202020204" pitchFamily="34" charset="0"/>
              <a:buChar char="•"/>
            </a:pPr>
            <a:r>
              <a:rPr lang="vi-VN"/>
              <a:t>Các kiến trúc phân cấp (planner–executor) đã được dùng nhưng thường chỉ tách cấu trúc, chưa tách biệt cách học giữa know-what và know-how. </a:t>
            </a:r>
          </a:p>
          <a:p>
            <a:pPr marL="171450" indent="-171450">
              <a:buFont typeface="Arial" panose="020B0604020202020204" pitchFamily="34" charset="0"/>
              <a:buChar char="•"/>
            </a:pPr>
            <a:r>
              <a:rPr lang="vi-VN"/>
              <a:t>Bài báo đề xuất </a:t>
            </a:r>
            <a:r>
              <a:rPr lang="vi-VN" b="1"/>
              <a:t>K²-Agent</a:t>
            </a:r>
            <a:r>
              <a:rPr lang="vi-VN"/>
              <a:t>, một framework phân cấp cho mobile control, tách biệt và đồng tiến hóa declarative và procedural knowledge. </a:t>
            </a:r>
          </a:p>
          <a:p>
            <a:pPr marL="171450" indent="-171450">
              <a:buFont typeface="Arial" panose="020B0604020202020204" pitchFamily="34" charset="0"/>
              <a:buChar char="•"/>
            </a:pPr>
            <a:r>
              <a:rPr lang="vi-VN"/>
              <a:t>Planner cấp cao dùng vòng lặp </a:t>
            </a:r>
            <a:r>
              <a:rPr lang="vi-VN" b="1"/>
              <a:t>SRLR (Summarize–Reflect–Locate–Revise)</a:t>
            </a:r>
            <a:r>
              <a:rPr lang="vi-VN"/>
              <a:t> để học và cập nhật tri thức từ chỉ một demonstration cho mỗi task. </a:t>
            </a:r>
          </a:p>
          <a:p>
            <a:pPr marL="171450" indent="-171450">
              <a:buFont typeface="Arial" panose="020B0604020202020204" pitchFamily="34" charset="0"/>
              <a:buChar char="•"/>
            </a:pPr>
            <a:r>
              <a:rPr lang="vi-VN"/>
              <a:t>Executor cấp thấp được huấn luyện bằng </a:t>
            </a:r>
            <a:r>
              <a:rPr lang="vi-VN" b="1"/>
              <a:t>C-GRPO</a:t>
            </a:r>
            <a:r>
              <a:rPr lang="vi-VN"/>
              <a:t>, sử dụng cân bằng lỗi và dynamic demonstration injection để học kỹ năng hiệu quả hơn. </a:t>
            </a:r>
          </a:p>
          <a:p>
            <a:pPr marL="171450" indent="-171450">
              <a:buFont typeface="Arial" panose="020B0604020202020204" pitchFamily="34" charset="0"/>
              <a:buChar char="•"/>
            </a:pPr>
            <a:r>
              <a:rPr lang="vi-VN"/>
              <a:t>Hai thành phần planner và executor tạo thành hệ thống </a:t>
            </a:r>
            <a:r>
              <a:rPr lang="vi-VN" b="1"/>
              <a:t>co-evolution closed-loop</a:t>
            </a:r>
            <a:r>
              <a:rPr lang="vi-VN"/>
              <a:t>, trong đó planning và execution liên tục cải thiện lẫn nhau. </a:t>
            </a:r>
          </a:p>
          <a:p>
            <a:pPr marL="171450" indent="-171450">
              <a:buFont typeface="Arial" panose="020B0604020202020204" pitchFamily="34" charset="0"/>
              <a:buChar char="•"/>
            </a:pPr>
            <a:r>
              <a:rPr lang="vi-VN"/>
              <a:t>Trên benchmark </a:t>
            </a:r>
            <a:r>
              <a:rPr lang="vi-VN" b="1"/>
              <a:t>AndroidWorld</a:t>
            </a:r>
            <a:r>
              <a:rPr lang="vi-VN"/>
              <a:t>, K²-Agent đạt </a:t>
            </a:r>
            <a:r>
              <a:rPr lang="vi-VN" b="1"/>
              <a:t>76.1% success rate</a:t>
            </a:r>
            <a:r>
              <a:rPr lang="vi-VN"/>
              <a:t>, vượt nhiều mô hình learning-based và cạnh tranh với model closed-source. </a:t>
            </a:r>
          </a:p>
          <a:p>
            <a:pPr marL="171450" indent="-171450">
              <a:buFont typeface="Arial" panose="020B0604020202020204" pitchFamily="34" charset="0"/>
              <a:buChar char="•"/>
            </a:pPr>
            <a:r>
              <a:rPr lang="vi-VN"/>
              <a:t>Mô hình thể hiện </a:t>
            </a:r>
            <a:r>
              <a:rPr lang="vi-VN" b="1"/>
              <a:t>dual generalization</a:t>
            </a:r>
            <a:r>
              <a:rPr lang="vi-VN"/>
              <a:t>: declarative knowledge transfer giữa các backbone và procedural skills transfer sang các benchmark như </a:t>
            </a:r>
            <a:r>
              <a:rPr lang="vi-VN" b="1"/>
              <a:t>AitW</a:t>
            </a:r>
            <a:r>
              <a:rPr lang="vi-VN"/>
              <a:t> và </a:t>
            </a:r>
            <a:r>
              <a:rPr lang="vi-VN" b="1"/>
              <a:t>ScreenSpot-v2</a:t>
            </a:r>
            <a:r>
              <a:rPr lang="vi-VN"/>
              <a:t>. </a:t>
            </a:r>
          </a:p>
        </p:txBody>
      </p:sp>
      <p:sp>
        <p:nvSpPr>
          <p:cNvPr id="4" name="Slide Number Placeholder 3"/>
          <p:cNvSpPr>
            <a:spLocks noGrp="1"/>
          </p:cNvSpPr>
          <p:nvPr>
            <p:ph type="sldNum" sz="quarter" idx="5"/>
          </p:nvPr>
        </p:nvSpPr>
        <p:spPr/>
        <p:txBody>
          <a:bodyPr/>
          <a:lstStyle/>
          <a:p>
            <a:fld id="{37C79A95-A3A4-4360-A42D-7FE47A333A7F}" type="slidenum">
              <a:rPr lang="en-US" smtClean="0"/>
              <a:t>1</a:t>
            </a:fld>
            <a:endParaRPr lang="en-US"/>
          </a:p>
        </p:txBody>
      </p:sp>
    </p:spTree>
    <p:extLst>
      <p:ext uri="{BB962C8B-B14F-4D97-AF65-F5344CB8AC3E}">
        <p14:creationId xmlns:p14="http://schemas.microsoft.com/office/powerpoint/2010/main" val="307828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BAC9C-5E49-8F3E-0CD6-A00E4A22C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C9C98-F8CB-CCEC-88E4-0BEDF125F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9EC1B-1589-273C-CA2D-4B9809A4B134}"/>
              </a:ext>
            </a:extLst>
          </p:cNvPr>
          <p:cNvSpPr>
            <a:spLocks noGrp="1"/>
          </p:cNvSpPr>
          <p:nvPr>
            <p:ph type="body" idx="1"/>
          </p:nvPr>
        </p:nvSpPr>
        <p:spPr/>
        <p:txBody>
          <a:bodyPr/>
          <a:lstStyle/>
          <a:p>
            <a:pPr marL="171450" indent="-171450">
              <a:buFont typeface="Arial" panose="020B0604020202020204" pitchFamily="34" charset="0"/>
              <a:buChar char="•"/>
            </a:pPr>
            <a:r>
              <a:rPr lang="vi-VN"/>
              <a:t>Như minh họa trong Hình 2, K²-Agent có kiến trúc hai tầng gồm Planner–Executor, trong đó mỗi tầng được khởi tạo bởi một VLM. Bộ lập kế hoạch cấp cao, </a:t>
            </a:r>
            <a:r>
              <a:rPr lang="el-GR"/>
              <a:t>π</a:t>
            </a:r>
            <a:r>
              <a:rPr lang="vi-VN"/>
              <a:t>H, hoạt động ở chế độ không cần huấn luyện để duy trì một cơ sở tri thức khai báo KG, được tinh chỉnh lặp đi lặp lại thông qua vòng lặp SRLR. Thay vì trực tiếp tương tác với môi trường, </a:t>
            </a:r>
            <a:r>
              <a:rPr lang="el-GR"/>
              <a:t>π</a:t>
            </a:r>
            <a:r>
              <a:rPr lang="vi-VN"/>
              <a:t>H sử dụng KG để phân rã tác vụ tổng thể g thành một chuỗi các mục tiêu con tức thời zt.</a:t>
            </a:r>
          </a:p>
          <a:p>
            <a:pPr marL="171450" indent="-171450">
              <a:buFont typeface="Arial" panose="020B0604020202020204" pitchFamily="34" charset="0"/>
              <a:buChar char="•"/>
            </a:pPr>
            <a:r>
              <a:rPr lang="vi-VN"/>
              <a:t>Bộ thực thi cấp thấp, </a:t>
            </a:r>
            <a:r>
              <a:rPr lang="el-GR"/>
              <a:t>π</a:t>
            </a:r>
            <a:r>
              <a:rPr lang="vi-VN"/>
              <a:t>L, là một policy có thể huấn luyện, học các kỹ năng thủ tục thông qua thuật toán C-GRPO. Nó nhận quan sát hiện tại ot và mục tiêu con zt từ </a:t>
            </a:r>
            <a:r>
              <a:rPr lang="el-GR"/>
              <a:t>π</a:t>
            </a:r>
            <a:r>
              <a:rPr lang="vi-VN"/>
              <a:t>H, sau đó đưa ra quyết định trong trạng thái mở rộng s′t = (ot, g, zt) để sinh ra các hành động nguyên tử trên thiết bị.</a:t>
            </a:r>
          </a:p>
          <a:p>
            <a:pPr marL="171450" indent="-171450">
              <a:buFont typeface="Arial" panose="020B0604020202020204" pitchFamily="34" charset="0"/>
              <a:buChar char="•"/>
            </a:pPr>
            <a:r>
              <a:rPr lang="vi-VN"/>
              <a:t>Hai thành phần này tạo thành một hệ thống đồng tiến hóa vòng kín. Việc truyền thông theo chiều tiến được thực hiện thông qua các mục tiêu con zt. Vòng phản hồi bao gồm các kết quả thực thi — thành công, thất bại và các mẫu lỗi — từ </a:t>
            </a:r>
            <a:r>
              <a:rPr lang="el-GR"/>
              <a:t>π</a:t>
            </a:r>
            <a:r>
              <a:rPr lang="vi-VN"/>
              <a:t>L được sử dụng bởi </a:t>
            </a:r>
            <a:r>
              <a:rPr lang="el-GR"/>
              <a:t>π</a:t>
            </a:r>
            <a:r>
              <a:rPr lang="vi-VN"/>
              <a:t>H để cập nhật cơ sở tri thức KG. Một KG chính xác hơn giúp </a:t>
            </a:r>
            <a:r>
              <a:rPr lang="el-GR"/>
              <a:t>π</a:t>
            </a:r>
            <a:r>
              <a:rPr lang="vi-VN"/>
              <a:t>H tạo ra các mục tiêu con khả thi và dễ thực thi hơn, từ đó cung cấp cho </a:t>
            </a:r>
            <a:r>
              <a:rPr lang="el-GR"/>
              <a:t>π</a:t>
            </a:r>
            <a:r>
              <a:rPr lang="vi-VN"/>
              <a:t>L một bài toán khám phá có cấu trúc tốt hơn và các tín hiệu học hiệu quả hơn. Điều này tạo nên một chu trình hiệp đồng, trong đó việc lập kế hoạch và thực thi được cải thiện lẫn nhau.</a:t>
            </a:r>
            <a:endParaRPr lang="en-US"/>
          </a:p>
          <a:p>
            <a:pPr marL="171450" indent="-171450">
              <a:buFont typeface="Arial" panose="020B0604020202020204" pitchFamily="34" charset="0"/>
              <a:buChar char="•"/>
            </a:pPr>
            <a:endParaRPr lang="en-US"/>
          </a:p>
          <a:p>
            <a:r>
              <a:rPr lang="vi-VN" b="1"/>
              <a:t>. Kiến trúc 2 tầng: Planner (</a:t>
            </a:r>
            <a:r>
              <a:rPr lang="el-GR" b="1"/>
              <a:t>π</a:t>
            </a:r>
            <a:r>
              <a:rPr lang="vi-VN" b="1"/>
              <a:t>H) và Executor (</a:t>
            </a:r>
            <a:r>
              <a:rPr lang="el-GR" b="1"/>
              <a:t>π</a:t>
            </a:r>
            <a:r>
              <a:rPr lang="vi-VN" b="1"/>
              <a:t>L)</a:t>
            </a:r>
          </a:p>
          <a:p>
            <a:r>
              <a:rPr lang="el-GR" b="1"/>
              <a:t>π</a:t>
            </a:r>
            <a:r>
              <a:rPr lang="vi-VN" b="1"/>
              <a:t>H (Planner - cấp cao)</a:t>
            </a:r>
            <a:r>
              <a:rPr lang="vi-VN"/>
              <a:t> </a:t>
            </a:r>
          </a:p>
          <a:p>
            <a:pPr lvl="1"/>
            <a:r>
              <a:rPr lang="vi-VN"/>
              <a:t>Không train (training-free), giống “bộ não suy nghĩ”. </a:t>
            </a:r>
          </a:p>
          <a:p>
            <a:pPr lvl="1"/>
            <a:r>
              <a:rPr lang="vi-VN"/>
              <a:t>Giữ </a:t>
            </a:r>
            <a:r>
              <a:rPr lang="vi-VN" b="1"/>
              <a:t>KG (Knowledge Graph / Knowledge Base)</a:t>
            </a:r>
            <a:r>
              <a:rPr lang="vi-VN"/>
              <a:t> → nơi chứa tri thức dạng rule / checklist. </a:t>
            </a:r>
          </a:p>
          <a:p>
            <a:pPr lvl="1"/>
            <a:r>
              <a:rPr lang="vi-VN"/>
              <a:t>Nhiệm vụ chính: </a:t>
            </a:r>
            <a:r>
              <a:rPr lang="vi-VN" b="1"/>
              <a:t>biến task lớn → các bước nhỏ (sub-goals zₜ)</a:t>
            </a:r>
            <a:r>
              <a:rPr lang="vi-VN"/>
              <a:t>. </a:t>
            </a:r>
          </a:p>
          <a:p>
            <a:r>
              <a:rPr lang="el-GR" b="1"/>
              <a:t>π</a:t>
            </a:r>
            <a:r>
              <a:rPr lang="vi-VN" b="1"/>
              <a:t>L (Executor - cấp thấp)</a:t>
            </a:r>
            <a:r>
              <a:rPr lang="vi-VN"/>
              <a:t> </a:t>
            </a:r>
          </a:p>
          <a:p>
            <a:pPr lvl="1"/>
            <a:r>
              <a:rPr lang="vi-VN"/>
              <a:t>Có train (bằng C-GRPO). </a:t>
            </a:r>
          </a:p>
          <a:p>
            <a:pPr lvl="1"/>
            <a:r>
              <a:rPr lang="vi-VN"/>
              <a:t>Giống “tay chân thực thi”. </a:t>
            </a:r>
          </a:p>
          <a:p>
            <a:pPr lvl="1"/>
            <a:r>
              <a:rPr lang="vi-VN"/>
              <a:t>Nhận: </a:t>
            </a:r>
          </a:p>
          <a:p>
            <a:pPr lvl="2"/>
            <a:r>
              <a:rPr lang="vi-VN"/>
              <a:t>màn hình hiện tại </a:t>
            </a:r>
            <a:r>
              <a:rPr lang="vi-VN" sz="1200" kern="1200">
                <a:solidFill>
                  <a:schemeClr val="tx1"/>
                </a:solidFill>
                <a:latin typeface="+mn-lt"/>
                <a:ea typeface="+mn-ea"/>
                <a:cs typeface="+mn-cs"/>
              </a:rPr>
              <a:t>oₜ</a:t>
            </a:r>
            <a:r>
              <a:rPr lang="vi-VN"/>
              <a:t> </a:t>
            </a:r>
          </a:p>
          <a:p>
            <a:pPr lvl="2"/>
            <a:r>
              <a:rPr lang="vi-VN"/>
              <a:t>task </a:t>
            </a:r>
            <a:r>
              <a:rPr lang="vi-VN" sz="1200" kern="1200">
                <a:solidFill>
                  <a:schemeClr val="tx1"/>
                </a:solidFill>
                <a:latin typeface="+mn-lt"/>
                <a:ea typeface="+mn-ea"/>
                <a:cs typeface="+mn-cs"/>
              </a:rPr>
              <a:t>g</a:t>
            </a:r>
            <a:r>
              <a:rPr lang="vi-VN"/>
              <a:t> </a:t>
            </a:r>
          </a:p>
          <a:p>
            <a:pPr lvl="2"/>
            <a:r>
              <a:rPr lang="vi-VN"/>
              <a:t>sub-goal </a:t>
            </a:r>
            <a:r>
              <a:rPr lang="vi-VN" sz="1200" kern="1200">
                <a:solidFill>
                  <a:schemeClr val="tx1"/>
                </a:solidFill>
                <a:latin typeface="+mn-lt"/>
                <a:ea typeface="+mn-ea"/>
                <a:cs typeface="+mn-cs"/>
              </a:rPr>
              <a:t>zₜ</a:t>
            </a:r>
            <a:br>
              <a:rPr lang="vi-VN"/>
            </a:br>
            <a:r>
              <a:rPr lang="vi-VN"/>
              <a:t>→ rồi quyết định action cụ thể (click, swipe, type).</a:t>
            </a:r>
          </a:p>
          <a:p>
            <a:pPr marL="171450" indent="-171450">
              <a:buFont typeface="Arial" panose="020B0604020202020204" pitchFamily="34" charset="0"/>
              <a:buChar char="•"/>
            </a:pPr>
            <a:endParaRPr lang="vi-VN"/>
          </a:p>
        </p:txBody>
      </p:sp>
      <p:sp>
        <p:nvSpPr>
          <p:cNvPr id="4" name="Slide Number Placeholder 3">
            <a:extLst>
              <a:ext uri="{FF2B5EF4-FFF2-40B4-BE49-F238E27FC236}">
                <a16:creationId xmlns:a16="http://schemas.microsoft.com/office/drawing/2014/main" id="{C10519AB-CBD9-68DC-DA26-D9FCF38BDA97}"/>
              </a:ext>
            </a:extLst>
          </p:cNvPr>
          <p:cNvSpPr>
            <a:spLocks noGrp="1"/>
          </p:cNvSpPr>
          <p:nvPr>
            <p:ph type="sldNum" sz="quarter" idx="5"/>
          </p:nvPr>
        </p:nvSpPr>
        <p:spPr/>
        <p:txBody>
          <a:bodyPr/>
          <a:lstStyle/>
          <a:p>
            <a:fld id="{37C79A95-A3A4-4360-A42D-7FE47A333A7F}" type="slidenum">
              <a:rPr lang="en-US" smtClean="0"/>
              <a:t>2</a:t>
            </a:fld>
            <a:endParaRPr lang="en-US"/>
          </a:p>
        </p:txBody>
      </p:sp>
    </p:spTree>
    <p:extLst>
      <p:ext uri="{BB962C8B-B14F-4D97-AF65-F5344CB8AC3E}">
        <p14:creationId xmlns:p14="http://schemas.microsoft.com/office/powerpoint/2010/main" val="2982938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2CC93-082A-A4A1-DF35-28AFF7C68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C3A73-5B19-4A7B-F12A-A2927003EBEA}"/>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663CA52A-CC5A-E7CD-EB5A-BC6FDA40490A}"/>
                  </a:ext>
                </a:extLst>
              </p:cNvPr>
              <p:cNvSpPr>
                <a:spLocks noGrp="1"/>
              </p:cNvSpPr>
              <p:nvPr>
                <p:ph type="body" idx="1"/>
              </p:nvPr>
            </p:nvSpPr>
            <p:spPr/>
            <p:txBody>
              <a:bodyPr/>
              <a:lstStyle/>
              <a:p>
                <a:r>
                  <a:rPr lang="vi-VN"/>
                  <a:t>Planner,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𝜋</m:t>
                        </m:r>
                      </m:e>
                      <m:sub>
                        <m:r>
                          <a:rPr lang="ar-AE" sz="1200" i="1" kern="1200">
                            <a:solidFill>
                              <a:schemeClr val="tx1"/>
                            </a:solidFill>
                            <a:latin typeface="+mn-lt"/>
                            <a:ea typeface="+mn-ea"/>
                            <a:cs typeface="+mn-cs"/>
                          </a:rPr>
                          <m:t>𝐻</m:t>
                        </m:r>
                      </m:sub>
                    </m:sSub>
                  </m:oMath>
                </a14:m>
                <a:r>
                  <a:rPr lang="ar-AE"/>
                  <a:t>, </a:t>
                </a:r>
                <a:r>
                  <a:rPr lang="vi-VN"/>
                  <a:t>phát triển cơ sở tri thức khai báo </a:t>
                </a:r>
                <a14:m>
                  <m:oMath xmlns:m="http://schemas.openxmlformats.org/officeDocument/2006/math">
                    <m:r>
                      <a:rPr lang="vi-VN" sz="1200" i="1" kern="1200">
                        <a:solidFill>
                          <a:schemeClr val="tx1"/>
                        </a:solidFill>
                        <a:latin typeface="+mn-lt"/>
                        <a:ea typeface="+mn-ea"/>
                        <a:cs typeface="+mn-cs"/>
                      </a:rPr>
                      <m:t>𝐾𝐺</m:t>
                    </m:r>
                  </m:oMath>
                </a14:m>
                <a:r>
                  <a:rPr lang="vi-VN"/>
                  <a:t>thông qua một vòng lặp SRLR gồm bốn giai đoạn, được minh họa trong Hình 3. Chu trình tự cải thiện này được khởi tạo từ một ví dụ minh họa của chuyên gia và được thực hiện bởi chính planner dựa trên VLM.</a:t>
                </a:r>
                <a:endParaRPr lang="en-US" b="1"/>
              </a:p>
              <a:p>
                <a:r>
                  <a:rPr lang="vi-VN" b="1"/>
                  <a:t>4.2.1 SUMMARIZE</a:t>
                </a:r>
                <a:r>
                  <a:rPr lang="vi-VN"/>
                  <a:t> </a:t>
                </a:r>
              </a:p>
              <a:p>
                <a:r>
                  <a:rPr lang="vi-VN"/>
                  <a:t>Với một quỹ đạo minh họa duy nhất</a:t>
                </a:r>
                <a:br>
                  <a:rPr lang="vi-VN"/>
                </a:br>
                <a14:m>
                  <m:oMath xmlns:m="http://schemas.openxmlformats.org/officeDocument/2006/math">
                    <m:sSup>
                      <m:sSupPr>
                        <m:ctrlPr>
                          <a:rPr lang="ar-AE" sz="1200" kern="1200">
                            <a:solidFill>
                              <a:schemeClr val="tx1"/>
                            </a:solidFill>
                            <a:latin typeface="+mn-lt"/>
                            <a:ea typeface="+mn-ea"/>
                            <a:cs typeface="+mn-cs"/>
                          </a:rPr>
                        </m:ctrlPr>
                      </m:sSupPr>
                      <m:e>
                        <m:r>
                          <a:rPr lang="ar-AE" sz="1200" i="1" kern="1200">
                            <a:solidFill>
                              <a:schemeClr val="tx1"/>
                            </a:solidFill>
                            <a:latin typeface="+mn-lt"/>
                            <a:ea typeface="+mn-ea"/>
                            <a:cs typeface="+mn-cs"/>
                          </a:rPr>
                          <m:t>𝑇</m:t>
                        </m:r>
                      </m:e>
                      <m:sup>
                        <m:r>
                          <a:rPr lang="ar-AE" sz="1200" i="1" kern="1200">
                            <a:solidFill>
                              <a:schemeClr val="tx1"/>
                            </a:solidFill>
                            <a:latin typeface="+mn-lt"/>
                            <a:ea typeface="+mn-ea"/>
                            <a:cs typeface="+mn-cs"/>
                          </a:rPr>
                          <m:t>𝑑</m:t>
                        </m:r>
                      </m:sup>
                    </m:sSup>
                    <m:r>
                      <a:rPr lang="ar-AE" sz="1200" i="0" kern="1200">
                        <a:solidFill>
                          <a:schemeClr val="tx1"/>
                        </a:solidFill>
                        <a:latin typeface="+mn-lt"/>
                        <a:ea typeface="+mn-ea"/>
                        <a:cs typeface="+mn-cs"/>
                      </a:rPr>
                      <m:t>=</m:t>
                    </m:r>
                    <m:sSubSup>
                      <m:sSubSupPr>
                        <m:ctrlPr>
                          <a:rPr lang="ar-AE" sz="1200" i="1" kern="1200">
                            <a:solidFill>
                              <a:schemeClr val="tx1"/>
                            </a:solidFill>
                            <a:latin typeface="+mn-lt"/>
                            <a:ea typeface="+mn-ea"/>
                            <a:cs typeface="+mn-cs"/>
                          </a:rPr>
                        </m:ctrlPr>
                      </m:sSubSupPr>
                      <m:e>
                        <m:d>
                          <m:dPr>
                            <m:begChr m:val="{"/>
                            <m:endChr m:val="}"/>
                            <m:ctrlPr>
                              <a:rPr lang="ar-AE" sz="1200" i="1" kern="1200">
                                <a:solidFill>
                                  <a:schemeClr val="tx1"/>
                                </a:solidFill>
                                <a:latin typeface="+mn-lt"/>
                                <a:ea typeface="+mn-ea"/>
                                <a:cs typeface="+mn-cs"/>
                              </a:rPr>
                            </m:ctrlPr>
                          </m:dPr>
                          <m:e>
                            <m:d>
                              <m:dPr>
                                <m:sepChr m:val=","/>
                                <m:ctrlPr>
                                  <a:rPr lang="ar-AE" sz="1200" i="1" kern="1200">
                                    <a:solidFill>
                                      <a:schemeClr val="tx1"/>
                                    </a:solidFill>
                                    <a:latin typeface="+mn-lt"/>
                                    <a:ea typeface="+mn-ea"/>
                                    <a:cs typeface="+mn-cs"/>
                                  </a:rPr>
                                </m:ctrlPr>
                              </m:dPr>
                              <m:e>
                                <m:sSubSup>
                                  <m:sSubSupPr>
                                    <m:ctrlPr>
                                      <a:rPr lang="ar-AE" sz="1200" i="1" kern="1200">
                                        <a:solidFill>
                                          <a:schemeClr val="tx1"/>
                                        </a:solidFill>
                                        <a:latin typeface="+mn-lt"/>
                                        <a:ea typeface="+mn-ea"/>
                                        <a:cs typeface="+mn-cs"/>
                                      </a:rPr>
                                    </m:ctrlPr>
                                  </m:sSubSupPr>
                                  <m:e>
                                    <m:r>
                                      <a:rPr lang="ar-AE" sz="1200" i="1" kern="1200">
                                        <a:solidFill>
                                          <a:schemeClr val="tx1"/>
                                        </a:solidFill>
                                        <a:latin typeface="+mn-lt"/>
                                        <a:ea typeface="+mn-ea"/>
                                        <a:cs typeface="+mn-cs"/>
                                      </a:rPr>
                                      <m:t>𝑠</m:t>
                                    </m:r>
                                  </m:e>
                                  <m:sub>
                                    <m:r>
                                      <a:rPr lang="ar-AE" sz="1200" i="1" kern="1200">
                                        <a:solidFill>
                                          <a:schemeClr val="tx1"/>
                                        </a:solidFill>
                                        <a:latin typeface="+mn-lt"/>
                                        <a:ea typeface="+mn-ea"/>
                                        <a:cs typeface="+mn-cs"/>
                                      </a:rPr>
                                      <m:t>𝑡</m:t>
                                    </m:r>
                                  </m:sub>
                                  <m:sup>
                                    <m:r>
                                      <a:rPr lang="ar-AE" sz="1200" i="1" kern="1200">
                                        <a:solidFill>
                                          <a:schemeClr val="tx1"/>
                                        </a:solidFill>
                                        <a:latin typeface="+mn-lt"/>
                                        <a:ea typeface="+mn-ea"/>
                                        <a:cs typeface="+mn-cs"/>
                                      </a:rPr>
                                      <m:t>𝑑</m:t>
                                    </m:r>
                                  </m:sup>
                                </m:sSubSup>
                              </m:e>
                              <m:e>
                                <m:sSubSup>
                                  <m:sSubSupPr>
                                    <m:ctrlPr>
                                      <a:rPr lang="ar-AE" sz="1200" i="1" kern="1200">
                                        <a:solidFill>
                                          <a:schemeClr val="tx1"/>
                                        </a:solidFill>
                                        <a:latin typeface="+mn-lt"/>
                                        <a:ea typeface="+mn-ea"/>
                                        <a:cs typeface="+mn-cs"/>
                                      </a:rPr>
                                    </m:ctrlPr>
                                  </m:sSubSupPr>
                                  <m:e>
                                    <m:r>
                                      <a:rPr lang="ar-AE" sz="1200" i="1" kern="1200">
                                        <a:solidFill>
                                          <a:schemeClr val="tx1"/>
                                        </a:solidFill>
                                        <a:latin typeface="+mn-lt"/>
                                        <a:ea typeface="+mn-ea"/>
                                        <a:cs typeface="+mn-cs"/>
                                      </a:rPr>
                                      <m:t>𝑎</m:t>
                                    </m:r>
                                  </m:e>
                                  <m:sub>
                                    <m:r>
                                      <a:rPr lang="ar-AE" sz="1200" i="1" kern="1200">
                                        <a:solidFill>
                                          <a:schemeClr val="tx1"/>
                                        </a:solidFill>
                                        <a:latin typeface="+mn-lt"/>
                                        <a:ea typeface="+mn-ea"/>
                                        <a:cs typeface="+mn-cs"/>
                                      </a:rPr>
                                      <m:t>𝑡</m:t>
                                    </m:r>
                                  </m:sub>
                                  <m:sup>
                                    <m:r>
                                      <a:rPr lang="ar-AE" sz="1200" i="1" kern="1200">
                                        <a:solidFill>
                                          <a:schemeClr val="tx1"/>
                                        </a:solidFill>
                                        <a:latin typeface="+mn-lt"/>
                                        <a:ea typeface="+mn-ea"/>
                                        <a:cs typeface="+mn-cs"/>
                                      </a:rPr>
                                      <m:t>𝑑</m:t>
                                    </m:r>
                                  </m:sup>
                                </m:sSubSup>
                              </m:e>
                            </m:d>
                          </m:e>
                        </m:d>
                      </m:e>
                      <m:sub>
                        <m:r>
                          <a:rPr lang="ar-AE" sz="1200" i="1" kern="1200">
                            <a:solidFill>
                              <a:schemeClr val="tx1"/>
                            </a:solidFill>
                            <a:latin typeface="+mn-lt"/>
                            <a:ea typeface="+mn-ea"/>
                            <a:cs typeface="+mn-cs"/>
                          </a:rPr>
                          <m:t>𝑡</m:t>
                        </m:r>
                        <m:r>
                          <a:rPr lang="ar-AE" sz="1200" i="0" kern="1200">
                            <a:solidFill>
                              <a:schemeClr val="tx1"/>
                            </a:solidFill>
                            <a:latin typeface="+mn-lt"/>
                            <a:ea typeface="+mn-ea"/>
                            <a:cs typeface="+mn-cs"/>
                          </a:rPr>
                          <m:t>=</m:t>
                        </m:r>
                        <m:r>
                          <a:rPr lang="ar-AE" sz="1200" i="0" kern="1200">
                            <a:solidFill>
                              <a:schemeClr val="tx1"/>
                            </a:solidFill>
                            <a:latin typeface="+mn-lt"/>
                            <a:ea typeface="+mn-ea"/>
                            <a:cs typeface="+mn-cs"/>
                          </a:rPr>
                          <m:t>0</m:t>
                        </m:r>
                      </m:sub>
                      <m:sup>
                        <m:sSup>
                          <m:sSupPr>
                            <m:ctrlPr>
                              <a:rPr lang="ar-AE" sz="1200" i="1" kern="1200">
                                <a:solidFill>
                                  <a:schemeClr val="tx1"/>
                                </a:solidFill>
                                <a:latin typeface="+mn-lt"/>
                                <a:ea typeface="+mn-ea"/>
                                <a:cs typeface="+mn-cs"/>
                              </a:rPr>
                            </m:ctrlPr>
                          </m:sSupPr>
                          <m:e>
                            <m:r>
                              <a:rPr lang="ar-AE" sz="1200" i="1" kern="1200">
                                <a:solidFill>
                                  <a:schemeClr val="tx1"/>
                                </a:solidFill>
                                <a:latin typeface="+mn-lt"/>
                                <a:ea typeface="+mn-ea"/>
                                <a:cs typeface="+mn-cs"/>
                              </a:rPr>
                              <m:t>𝑇</m:t>
                            </m:r>
                          </m:e>
                          <m:sup>
                            <m:r>
                              <a:rPr lang="ar-AE" sz="1200" i="1" kern="1200">
                                <a:solidFill>
                                  <a:schemeClr val="tx1"/>
                                </a:solidFill>
                                <a:latin typeface="+mn-lt"/>
                                <a:ea typeface="+mn-ea"/>
                                <a:cs typeface="+mn-cs"/>
                              </a:rPr>
                              <m:t>𝑑</m:t>
                            </m:r>
                          </m:sup>
                        </m:sSup>
                      </m:sup>
                    </m:sSubSup>
                  </m:oMath>
                </a14:m>
                <a:r>
                  <a:rPr lang="vi-VN"/>
                  <a:t>và mục tiêu tác vụ </a:t>
                </a:r>
                <a14:m>
                  <m:oMath xmlns:m="http://schemas.openxmlformats.org/officeDocument/2006/math">
                    <m:r>
                      <a:rPr lang="vi-VN" sz="1200" i="1" kern="1200">
                        <a:solidFill>
                          <a:schemeClr val="tx1"/>
                        </a:solidFill>
                        <a:latin typeface="+mn-lt"/>
                        <a:ea typeface="+mn-ea"/>
                        <a:cs typeface="+mn-cs"/>
                      </a:rPr>
                      <m:t>𝑔</m:t>
                    </m:r>
                  </m:oMath>
                </a14:m>
                <a:r>
                  <a:rPr lang="vi-VN"/>
                  <a:t>,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𝜋</m:t>
                        </m:r>
                      </m:e>
                      <m:sub>
                        <m:r>
                          <a:rPr lang="ar-AE" sz="1200" i="1" kern="1200">
                            <a:solidFill>
                              <a:schemeClr val="tx1"/>
                            </a:solidFill>
                            <a:latin typeface="+mn-lt"/>
                            <a:ea typeface="+mn-ea"/>
                            <a:cs typeface="+mn-cs"/>
                          </a:rPr>
                          <m:t>𝐻</m:t>
                        </m:r>
                      </m:sub>
                    </m:sSub>
                  </m:oMath>
                </a14:m>
                <a:r>
                  <a:rPr lang="vi-VN"/>
                  <a:t>thực hiện một lần chắt lọc để tạo ra một cơ sở tri thức ban đầu có cấu trúc </a:t>
                </a:r>
                <a14:m>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𝐾</m:t>
                        </m:r>
                      </m:e>
                      <m:sub>
                        <m:r>
                          <a:rPr lang="ar-AE" sz="1200" i="1" kern="1200">
                            <a:solidFill>
                              <a:schemeClr val="tx1"/>
                            </a:solidFill>
                            <a:latin typeface="+mn-lt"/>
                            <a:ea typeface="+mn-ea"/>
                            <a:cs typeface="+mn-cs"/>
                          </a:rPr>
                          <m:t>𝐺</m:t>
                        </m:r>
                      </m:sub>
                      <m:sup>
                        <m:r>
                          <a:rPr lang="ar-AE" sz="1200" i="0" kern="1200">
                            <a:solidFill>
                              <a:schemeClr val="tx1"/>
                            </a:solidFill>
                            <a:latin typeface="+mn-lt"/>
                            <a:ea typeface="+mn-ea"/>
                            <a:cs typeface="+mn-cs"/>
                          </a:rPr>
                          <m:t>0</m:t>
                        </m:r>
                      </m:sup>
                    </m:sSubSup>
                  </m:oMath>
                </a14:m>
                <a:r>
                  <a:rPr lang="ar-AE"/>
                  <a:t>(</a:t>
                </a:r>
                <a:r>
                  <a:rPr lang="vi-VN"/>
                  <a:t>Hình 3, góc trên bên trái):</a:t>
                </a:r>
              </a:p>
              <a:p>
                <a14:m>
                  <m:oMathPara xmlns:m="http://schemas.openxmlformats.org/officeDocument/2006/math">
                    <m:oMathParaPr>
                      <m:jc m:val="centerGroup"/>
                    </m:oMathParaPr>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𝐾</m:t>
                          </m:r>
                        </m:e>
                        <m:sub>
                          <m:r>
                            <a:rPr lang="ar-AE" sz="1200" i="1" kern="1200">
                              <a:solidFill>
                                <a:schemeClr val="tx1"/>
                              </a:solidFill>
                              <a:latin typeface="+mn-lt"/>
                              <a:ea typeface="+mn-ea"/>
                              <a:cs typeface="+mn-cs"/>
                            </a:rPr>
                            <m:t>𝐺</m:t>
                          </m:r>
                        </m:sub>
                        <m:sup>
                          <m:r>
                            <a:rPr lang="ar-AE" sz="1200" i="0" kern="1200">
                              <a:solidFill>
                                <a:schemeClr val="tx1"/>
                              </a:solidFill>
                              <a:latin typeface="+mn-lt"/>
                              <a:ea typeface="+mn-ea"/>
                              <a:cs typeface="+mn-cs"/>
                            </a:rPr>
                            <m:t>0</m:t>
                          </m:r>
                        </m:sup>
                      </m:sSubSup>
                      <m:r>
                        <a:rPr lang="ar-AE" sz="1200" i="0" kern="1200">
                          <a:solidFill>
                            <a:schemeClr val="tx1"/>
                          </a:solidFill>
                          <a:latin typeface="+mn-lt"/>
                          <a:ea typeface="+mn-ea"/>
                          <a:cs typeface="+mn-cs"/>
                        </a:rPr>
                        <m:t>=</m:t>
                      </m:r>
                      <m:r>
                        <m:rPr>
                          <m:nor/>
                        </m:rPr>
                        <a:rPr lang="vi-VN" sz="1200" b="0" i="1" kern="1200">
                          <a:solidFill>
                            <a:schemeClr val="tx1"/>
                          </a:solidFill>
                          <a:latin typeface="+mn-lt"/>
                          <a:ea typeface="+mn-ea"/>
                          <a:cs typeface="+mn-cs"/>
                        </a:rPr>
                        <m:t>Summarize</m:t>
                      </m:r>
                      <m:d>
                        <m:dPr>
                          <m:sepChr m:val=","/>
                          <m:ctrlPr>
                            <a:rPr lang="ar-AE" sz="1200" b="0" i="1" kern="1200">
                              <a:solidFill>
                                <a:schemeClr val="tx1"/>
                              </a:solidFill>
                              <a:latin typeface="+mn-lt"/>
                              <a:ea typeface="+mn-ea"/>
                              <a:cs typeface="+mn-cs"/>
                            </a:rPr>
                          </m:ctrlPr>
                        </m:dPr>
                        <m:e>
                          <m:sSup>
                            <m:sSupPr>
                              <m:ctrlPr>
                                <a:rPr lang="ar-AE" sz="1200" b="0" i="1" kern="1200">
                                  <a:solidFill>
                                    <a:schemeClr val="tx1"/>
                                  </a:solidFill>
                                  <a:latin typeface="+mn-lt"/>
                                  <a:ea typeface="+mn-ea"/>
                                  <a:cs typeface="+mn-cs"/>
                                </a:rPr>
                              </m:ctrlPr>
                            </m:sSupPr>
                            <m:e>
                              <m:r>
                                <a:rPr lang="ar-AE" sz="1200" b="0" i="1" kern="1200">
                                  <a:solidFill>
                                    <a:schemeClr val="tx1"/>
                                  </a:solidFill>
                                  <a:latin typeface="+mn-lt"/>
                                  <a:ea typeface="+mn-ea"/>
                                  <a:cs typeface="+mn-cs"/>
                                </a:rPr>
                                <m:t>𝑇</m:t>
                              </m:r>
                            </m:e>
                            <m:sup>
                              <m:r>
                                <a:rPr lang="ar-AE" sz="1200" b="0" i="1" kern="1200">
                                  <a:solidFill>
                                    <a:schemeClr val="tx1"/>
                                  </a:solidFill>
                                  <a:latin typeface="+mn-lt"/>
                                  <a:ea typeface="+mn-ea"/>
                                  <a:cs typeface="+mn-cs"/>
                                </a:rPr>
                                <m:t>𝑑</m:t>
                              </m:r>
                            </m:sup>
                          </m:sSup>
                        </m:e>
                        <m:e>
                          <m:r>
                            <a:rPr lang="ar-AE" sz="1200" b="0" i="1" kern="1200">
                              <a:solidFill>
                                <a:schemeClr val="tx1"/>
                              </a:solidFill>
                              <a:latin typeface="+mn-lt"/>
                              <a:ea typeface="+mn-ea"/>
                              <a:cs typeface="+mn-cs"/>
                            </a:rPr>
                            <m:t>𝑔</m:t>
                          </m:r>
                        </m:e>
                        <m:e>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𝜃</m:t>
                              </m:r>
                            </m:e>
                            <m:sub>
                              <m:r>
                                <a:rPr lang="ar-AE" sz="1200" b="0" i="1" kern="1200">
                                  <a:solidFill>
                                    <a:schemeClr val="tx1"/>
                                  </a:solidFill>
                                  <a:latin typeface="+mn-lt"/>
                                  <a:ea typeface="+mn-ea"/>
                                  <a:cs typeface="+mn-cs"/>
                                </a:rPr>
                                <m:t>𝐻</m:t>
                              </m:r>
                            </m:sub>
                          </m:sSub>
                        </m:e>
                      </m:d>
                      <m:r>
                        <a:rPr lang="ar-AE" sz="1200" b="0" i="0" kern="1200">
                          <a:solidFill>
                            <a:schemeClr val="tx1"/>
                          </a:solidFill>
                          <a:latin typeface="+mn-lt"/>
                          <a:ea typeface="+mn-ea"/>
                          <a:cs typeface="+mn-cs"/>
                        </a:rPr>
                        <m:t>.</m:t>
                      </m:r>
                    </m:oMath>
                  </m:oMathPara>
                </a14:m>
                <a:endParaRPr lang="ar-AE" b="0"/>
              </a:p>
              <a:p>
                <a:r>
                  <a:rPr lang="vi-VN"/>
                  <a:t>Cơ sở tri thức này được biểu diễn dưới dạng một tập các quy tắc hoặc một danh sách các bước theo thứ tự, nắm bắt logic cốt lõi để hoàn thành tác vụ, các thành phần UI quan trọng và chức năng của chúng. Nó đóng vai trò là điểm khởi đầu cho các vòng lặp SRLR tiếp theo. </a:t>
                </a:r>
              </a:p>
              <a:p>
                <a:br>
                  <a:rPr lang="vi-VN"/>
                </a:br>
                <a:endParaRPr lang="vi-VN"/>
              </a:p>
              <a:p>
                <a:r>
                  <a:rPr lang="vi-VN" b="1"/>
                  <a:t>4.2.2 REFLECT</a:t>
                </a:r>
                <a:r>
                  <a:rPr lang="vi-VN"/>
                  <a:t> </a:t>
                </a:r>
              </a:p>
              <a:p>
                <a:r>
                  <a:rPr lang="vi-VN"/>
                  <a:t>Trong quá trình thực thi, module phản tư được kích hoạt sau khi hoàn thành một quỹ đạo mới </a:t>
                </a:r>
                <a14:m>
                  <m:oMath xmlns:m="http://schemas.openxmlformats.org/officeDocument/2006/math">
                    <m:sSup>
                      <m:sSupPr>
                        <m:ctrlPr>
                          <a:rPr lang="ar-AE" sz="1200" kern="1200">
                            <a:solidFill>
                              <a:schemeClr val="tx1"/>
                            </a:solidFill>
                            <a:latin typeface="+mn-lt"/>
                            <a:ea typeface="+mn-ea"/>
                            <a:cs typeface="+mn-cs"/>
                          </a:rPr>
                        </m:ctrlPr>
                      </m:sSupPr>
                      <m:e>
                        <m:r>
                          <a:rPr lang="ar-AE" sz="1200" i="1" kern="1200">
                            <a:solidFill>
                              <a:schemeClr val="tx1"/>
                            </a:solidFill>
                            <a:latin typeface="+mn-lt"/>
                            <a:ea typeface="+mn-ea"/>
                            <a:cs typeface="+mn-cs"/>
                          </a:rPr>
                          <m:t>𝑇</m:t>
                        </m:r>
                      </m:e>
                      <m:sup>
                        <m:r>
                          <a:rPr lang="ar-AE" sz="1200" i="1" kern="1200">
                            <a:solidFill>
                              <a:schemeClr val="tx1"/>
                            </a:solidFill>
                            <a:latin typeface="+mn-lt"/>
                            <a:ea typeface="+mn-ea"/>
                            <a:cs typeface="+mn-cs"/>
                          </a:rPr>
                          <m:t>𝑒</m:t>
                        </m:r>
                      </m:sup>
                    </m:sSup>
                  </m:oMath>
                </a14:m>
                <a:r>
                  <a:rPr lang="ar-AE"/>
                  <a:t>. </a:t>
                </a:r>
                <a:r>
                  <a:rPr lang="vi-VN"/>
                  <a:t>Phản tư hoạt động ở hai mức độ:</a:t>
                </a:r>
              </a:p>
              <a:p>
                <a:r>
                  <a:rPr lang="vi-VN" b="1"/>
                  <a:t>Cấp độ bước (Step-level):</a:t>
                </a:r>
                <a:r>
                  <a:rPr lang="vi-VN"/>
                  <a:t> Planner liên tục kiểm tra xem kết quả của mỗi hành động có phù hợp với kết quả mong đợi trong </a:t>
                </a:r>
                <a14:m>
                  <m:oMath xmlns:m="http://schemas.openxmlformats.org/officeDocument/2006/math">
                    <m:r>
                      <a:rPr lang="vi-VN" sz="1200" i="1" kern="1200">
                        <a:solidFill>
                          <a:schemeClr val="tx1"/>
                        </a:solidFill>
                        <a:latin typeface="+mn-lt"/>
                        <a:ea typeface="+mn-ea"/>
                        <a:cs typeface="+mn-cs"/>
                      </a:rPr>
                      <m:t>𝐾𝐺</m:t>
                    </m:r>
                  </m:oMath>
                </a14:m>
                <a:r>
                  <a:rPr lang="vi-VN"/>
                  <a:t>hay không. Điều này cho phép phát hiện ngay lập tức các sai lệch so với kế hoạch. </a:t>
                </a:r>
              </a:p>
              <a:p>
                <a:r>
                  <a:rPr lang="vi-VN" b="1"/>
                  <a:t>Cấp độ tác vụ (Task-level):</a:t>
                </a:r>
                <a:r>
                  <a:rPr lang="vi-VN"/>
                  <a:t> Nếu toàn bộ episode thất bại, phản tư ở cấp độ tác vụ sẽ phân tích toàn bộ quỹ đạo để tạo ra một giải thích có cấu trúc về nguyên nhân gốc rễ của lỗi, ví dụ như “không xác định được nút Rename”: </a:t>
                </a:r>
              </a:p>
              <a:p>
                <a14:m>
                  <m:oMathPara xmlns:m="http://schemas.openxmlformats.org/officeDocument/2006/math">
                    <m:oMathParaPr>
                      <m:jc m:val="centerGroup"/>
                    </m:oMathParaPr>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𝑀</m:t>
                          </m:r>
                        </m:e>
                        <m:sub>
                          <m:r>
                            <a:rPr lang="ar-AE" sz="1200" i="1" kern="1200">
                              <a:solidFill>
                                <a:schemeClr val="tx1"/>
                              </a:solidFill>
                              <a:latin typeface="+mn-lt"/>
                              <a:ea typeface="+mn-ea"/>
                              <a:cs typeface="+mn-cs"/>
                            </a:rPr>
                            <m:t>𝑐𝑎𝑠𝑒</m:t>
                          </m:r>
                        </m:sub>
                      </m:sSub>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m:rPr>
                              <m:nor/>
                            </m:rPr>
                            <a:rPr lang="vi-VN" sz="1200" b="0" i="1" kern="1200">
                              <a:solidFill>
                                <a:schemeClr val="tx1"/>
                              </a:solidFill>
                              <a:latin typeface="+mn-lt"/>
                              <a:ea typeface="+mn-ea"/>
                              <a:cs typeface="+mn-cs"/>
                            </a:rPr>
                            <m:t>Reflect</m:t>
                          </m:r>
                        </m:e>
                        <m:sub>
                          <m:r>
                            <a:rPr lang="ar-AE" sz="1200" b="0" i="1" kern="1200">
                              <a:solidFill>
                                <a:schemeClr val="tx1"/>
                              </a:solidFill>
                              <a:latin typeface="+mn-lt"/>
                              <a:ea typeface="+mn-ea"/>
                              <a:cs typeface="+mn-cs"/>
                            </a:rPr>
                            <m:t>𝑡𝑎𝑠𝑘</m:t>
                          </m:r>
                        </m:sub>
                      </m:sSub>
                      <m:d>
                        <m:dPr>
                          <m:sepChr m:val=","/>
                          <m:ctrlPr>
                            <a:rPr lang="ar-AE" sz="1200" b="0" i="1" kern="1200">
                              <a:solidFill>
                                <a:schemeClr val="tx1"/>
                              </a:solidFill>
                              <a:latin typeface="+mn-lt"/>
                              <a:ea typeface="+mn-ea"/>
                              <a:cs typeface="+mn-cs"/>
                            </a:rPr>
                          </m:ctrlPr>
                        </m:dPr>
                        <m:e>
                          <m:sSup>
                            <m:sSupPr>
                              <m:ctrlPr>
                                <a:rPr lang="ar-AE" sz="1200" b="0" i="1" kern="1200">
                                  <a:solidFill>
                                    <a:schemeClr val="tx1"/>
                                  </a:solidFill>
                                  <a:latin typeface="+mn-lt"/>
                                  <a:ea typeface="+mn-ea"/>
                                  <a:cs typeface="+mn-cs"/>
                                </a:rPr>
                              </m:ctrlPr>
                            </m:sSupPr>
                            <m:e>
                              <m:r>
                                <a:rPr lang="ar-AE" sz="1200" b="0" i="1" kern="1200">
                                  <a:solidFill>
                                    <a:schemeClr val="tx1"/>
                                  </a:solidFill>
                                  <a:latin typeface="+mn-lt"/>
                                  <a:ea typeface="+mn-ea"/>
                                  <a:cs typeface="+mn-cs"/>
                                </a:rPr>
                                <m:t>𝑇</m:t>
                              </m:r>
                            </m:e>
                            <m:sup>
                              <m:r>
                                <a:rPr lang="ar-AE" sz="1200" b="0" i="1" kern="1200">
                                  <a:solidFill>
                                    <a:schemeClr val="tx1"/>
                                  </a:solidFill>
                                  <a:latin typeface="+mn-lt"/>
                                  <a:ea typeface="+mn-ea"/>
                                  <a:cs typeface="+mn-cs"/>
                                </a:rPr>
                                <m:t>𝑒</m:t>
                              </m:r>
                            </m:sup>
                          </m:sSup>
                        </m:e>
                        <m:e>
                          <m:r>
                            <a:rPr lang="ar-AE" sz="1200" b="0" i="1" kern="1200">
                              <a:solidFill>
                                <a:schemeClr val="tx1"/>
                              </a:solidFill>
                              <a:latin typeface="+mn-lt"/>
                              <a:ea typeface="+mn-ea"/>
                              <a:cs typeface="+mn-cs"/>
                            </a:rPr>
                            <m:t>𝐾</m:t>
                          </m:r>
                        </m:e>
                        <m:e>
                          <m:r>
                            <a:rPr lang="ar-AE" sz="1200" b="0" i="1" kern="1200">
                              <a:solidFill>
                                <a:schemeClr val="tx1"/>
                              </a:solidFill>
                              <a:latin typeface="+mn-lt"/>
                              <a:ea typeface="+mn-ea"/>
                              <a:cs typeface="+mn-cs"/>
                            </a:rPr>
                            <m:t>𝐺</m:t>
                          </m:r>
                        </m:e>
                        <m:e>
                          <m:r>
                            <a:rPr lang="ar-AE" sz="1200" b="0" i="1" kern="1200">
                              <a:solidFill>
                                <a:schemeClr val="tx1"/>
                              </a:solidFill>
                              <a:latin typeface="+mn-lt"/>
                              <a:ea typeface="+mn-ea"/>
                              <a:cs typeface="+mn-cs"/>
                            </a:rPr>
                            <m:t>𝑔</m:t>
                          </m:r>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𝜃</m:t>
                              </m:r>
                            </m:e>
                            <m:sub>
                              <m:r>
                                <a:rPr lang="ar-AE" sz="1200" b="0" i="1" kern="1200">
                                  <a:solidFill>
                                    <a:schemeClr val="tx1"/>
                                  </a:solidFill>
                                  <a:latin typeface="+mn-lt"/>
                                  <a:ea typeface="+mn-ea"/>
                                  <a:cs typeface="+mn-cs"/>
                                </a:rPr>
                                <m:t>𝐻</m:t>
                              </m:r>
                            </m:sub>
                          </m:sSub>
                        </m:e>
                      </m:d>
                      <m:r>
                        <a:rPr lang="ar-AE" sz="1200" b="0" i="0" kern="1200">
                          <a:solidFill>
                            <a:schemeClr val="tx1"/>
                          </a:solidFill>
                          <a:latin typeface="+mn-lt"/>
                          <a:ea typeface="+mn-ea"/>
                          <a:cs typeface="+mn-cs"/>
                        </a:rPr>
                        <m:t>.</m:t>
                      </m:r>
                    </m:oMath>
                  </m:oMathPara>
                </a14:m>
                <a:endParaRPr lang="ar-AE" b="0"/>
              </a:p>
              <a:p>
                <a:br>
                  <a:rPr lang="ar-AE"/>
                </a:br>
                <a:endParaRPr lang="ar-AE"/>
              </a:p>
              <a:p>
                <a:r>
                  <a:rPr lang="ar-AE" b="1"/>
                  <a:t>4.2.3 </a:t>
                </a:r>
                <a:r>
                  <a:rPr lang="vi-VN" b="1"/>
                  <a:t>LOCATE</a:t>
                </a:r>
                <a:r>
                  <a:rPr lang="vi-VN"/>
                  <a:t> </a:t>
                </a:r>
              </a:p>
              <a:p>
                <a:r>
                  <a:rPr lang="vi-VN"/>
                  <a:t>Để cho phép sửa đổi chính xác, module locate sẽ căn chỉnh quỹ đạo đã thực thi </a:t>
                </a:r>
                <a14:m>
                  <m:oMath xmlns:m="http://schemas.openxmlformats.org/officeDocument/2006/math">
                    <m:sSup>
                      <m:sSupPr>
                        <m:ctrlPr>
                          <a:rPr lang="ar-AE" sz="1200" kern="1200">
                            <a:solidFill>
                              <a:schemeClr val="tx1"/>
                            </a:solidFill>
                            <a:latin typeface="+mn-lt"/>
                            <a:ea typeface="+mn-ea"/>
                            <a:cs typeface="+mn-cs"/>
                          </a:rPr>
                        </m:ctrlPr>
                      </m:sSupPr>
                      <m:e>
                        <m:r>
                          <a:rPr lang="ar-AE" sz="1200" i="1" kern="1200">
                            <a:solidFill>
                              <a:schemeClr val="tx1"/>
                            </a:solidFill>
                            <a:latin typeface="+mn-lt"/>
                            <a:ea typeface="+mn-ea"/>
                            <a:cs typeface="+mn-cs"/>
                          </a:rPr>
                          <m:t>𝑇</m:t>
                        </m:r>
                      </m:e>
                      <m:sup>
                        <m:r>
                          <a:rPr lang="ar-AE" sz="1200" i="1" kern="1200">
                            <a:solidFill>
                              <a:schemeClr val="tx1"/>
                            </a:solidFill>
                            <a:latin typeface="+mn-lt"/>
                            <a:ea typeface="+mn-ea"/>
                            <a:cs typeface="+mn-cs"/>
                          </a:rPr>
                          <m:t>𝑒</m:t>
                        </m:r>
                      </m:sup>
                    </m:sSup>
                  </m:oMath>
                </a14:m>
                <a:r>
                  <a:rPr lang="vi-VN"/>
                  <a:t>với tri thức nhiệm vụ được mã hóa trong </a:t>
                </a:r>
                <a14:m>
                  <m:oMath xmlns:m="http://schemas.openxmlformats.org/officeDocument/2006/math">
                    <m:r>
                      <a:rPr lang="vi-VN" sz="1200" i="1" kern="1200">
                        <a:solidFill>
                          <a:schemeClr val="tx1"/>
                        </a:solidFill>
                        <a:latin typeface="+mn-lt"/>
                        <a:ea typeface="+mn-ea"/>
                        <a:cs typeface="+mn-cs"/>
                      </a:rPr>
                      <m:t>𝐾𝐺</m:t>
                    </m:r>
                  </m:oMath>
                </a14:m>
                <a:r>
                  <a:rPr lang="vi-VN"/>
                  <a:t>và xác định điểm quyết định đầu tiên dẫn đến kết quả không như mong đợi:</a:t>
                </a:r>
              </a:p>
              <a:p>
                <a14:m>
                  <m:oMathPara xmlns:m="http://schemas.openxmlformats.org/officeDocument/2006/math">
                    <m:oMathParaPr>
                      <m:jc m:val="centerGroup"/>
                    </m:oMathParaPr>
                    <m:oMath xmlns:m="http://schemas.openxmlformats.org/officeDocument/2006/math">
                      <m:sSup>
                        <m:sSupPr>
                          <m:ctrlPr>
                            <a:rPr lang="ar-AE" sz="1200" kern="1200">
                              <a:solidFill>
                                <a:schemeClr val="tx1"/>
                              </a:solidFill>
                              <a:latin typeface="+mn-lt"/>
                              <a:ea typeface="+mn-ea"/>
                              <a:cs typeface="+mn-cs"/>
                            </a:rPr>
                          </m:ctrlPr>
                        </m:sSupPr>
                        <m:e>
                          <m:r>
                            <a:rPr lang="ar-AE" sz="1200" i="1" kern="1200">
                              <a:solidFill>
                                <a:schemeClr val="tx1"/>
                              </a:solidFill>
                              <a:latin typeface="+mn-lt"/>
                              <a:ea typeface="+mn-ea"/>
                              <a:cs typeface="+mn-cs"/>
                            </a:rPr>
                            <m:t>𝑡</m:t>
                          </m:r>
                        </m:e>
                        <m:sup>
                          <m:r>
                            <a:rPr lang="ar-AE" sz="1200" i="0" kern="1200">
                              <a:solidFill>
                                <a:schemeClr val="tx1"/>
                              </a:solidFill>
                              <a:latin typeface="+mn-lt"/>
                              <a:ea typeface="+mn-ea"/>
                              <a:cs typeface="+mn-cs"/>
                            </a:rPr>
                            <m:t>∗</m:t>
                          </m:r>
                        </m:sup>
                      </m:sSup>
                      <m:r>
                        <a:rPr lang="ar-AE" sz="1200" i="0" kern="1200">
                          <a:solidFill>
                            <a:schemeClr val="tx1"/>
                          </a:solidFill>
                          <a:latin typeface="+mn-lt"/>
                          <a:ea typeface="+mn-ea"/>
                          <a:cs typeface="+mn-cs"/>
                        </a:rPr>
                        <m:t>=</m:t>
                      </m:r>
                      <m:r>
                        <m:rPr>
                          <m:nor/>
                        </m:rPr>
                        <a:rPr lang="vi-VN" sz="1200" b="0" i="1" kern="1200">
                          <a:solidFill>
                            <a:schemeClr val="tx1"/>
                          </a:solidFill>
                          <a:latin typeface="+mn-lt"/>
                          <a:ea typeface="+mn-ea"/>
                          <a:cs typeface="+mn-cs"/>
                        </a:rPr>
                        <m:t>Locate</m:t>
                      </m:r>
                      <m:d>
                        <m:dPr>
                          <m:sepChr m:val=","/>
                          <m:ctrlPr>
                            <a:rPr lang="ar-AE" sz="1200" b="0" i="1" kern="1200">
                              <a:solidFill>
                                <a:schemeClr val="tx1"/>
                              </a:solidFill>
                              <a:latin typeface="+mn-lt"/>
                              <a:ea typeface="+mn-ea"/>
                              <a:cs typeface="+mn-cs"/>
                            </a:rPr>
                          </m:ctrlPr>
                        </m:dPr>
                        <m:e>
                          <m:sSup>
                            <m:sSupPr>
                              <m:ctrlPr>
                                <a:rPr lang="ar-AE" sz="1200" b="0" i="1" kern="1200">
                                  <a:solidFill>
                                    <a:schemeClr val="tx1"/>
                                  </a:solidFill>
                                  <a:latin typeface="+mn-lt"/>
                                  <a:ea typeface="+mn-ea"/>
                                  <a:cs typeface="+mn-cs"/>
                                </a:rPr>
                              </m:ctrlPr>
                            </m:sSupPr>
                            <m:e>
                              <m:r>
                                <a:rPr lang="ar-AE" sz="1200" b="0" i="1" kern="1200">
                                  <a:solidFill>
                                    <a:schemeClr val="tx1"/>
                                  </a:solidFill>
                                  <a:latin typeface="+mn-lt"/>
                                  <a:ea typeface="+mn-ea"/>
                                  <a:cs typeface="+mn-cs"/>
                                </a:rPr>
                                <m:t>𝑇</m:t>
                              </m:r>
                            </m:e>
                            <m:sup>
                              <m:r>
                                <a:rPr lang="ar-AE" sz="1200" b="0" i="1" kern="1200">
                                  <a:solidFill>
                                    <a:schemeClr val="tx1"/>
                                  </a:solidFill>
                                  <a:latin typeface="+mn-lt"/>
                                  <a:ea typeface="+mn-ea"/>
                                  <a:cs typeface="+mn-cs"/>
                                </a:rPr>
                                <m:t>𝑒</m:t>
                              </m:r>
                            </m:sup>
                          </m:sSup>
                        </m:e>
                        <m:e>
                          <m:r>
                            <a:rPr lang="ar-AE" sz="1200" b="0" i="1" kern="1200">
                              <a:solidFill>
                                <a:schemeClr val="tx1"/>
                              </a:solidFill>
                              <a:latin typeface="+mn-lt"/>
                              <a:ea typeface="+mn-ea"/>
                              <a:cs typeface="+mn-cs"/>
                            </a:rPr>
                            <m:t>𝐾</m:t>
                          </m:r>
                        </m:e>
                        <m:e>
                          <m:r>
                            <a:rPr lang="ar-AE" sz="1200" b="0" i="1" kern="1200">
                              <a:solidFill>
                                <a:schemeClr val="tx1"/>
                              </a:solidFill>
                              <a:latin typeface="+mn-lt"/>
                              <a:ea typeface="+mn-ea"/>
                              <a:cs typeface="+mn-cs"/>
                            </a:rPr>
                            <m:t>𝐺</m:t>
                          </m:r>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𝜃</m:t>
                              </m:r>
                            </m:e>
                            <m:sub>
                              <m:r>
                                <a:rPr lang="ar-AE" sz="1200" b="0" i="1" kern="1200">
                                  <a:solidFill>
                                    <a:schemeClr val="tx1"/>
                                  </a:solidFill>
                                  <a:latin typeface="+mn-lt"/>
                                  <a:ea typeface="+mn-ea"/>
                                  <a:cs typeface="+mn-cs"/>
                                </a:rPr>
                                <m:t>𝐻</m:t>
                              </m:r>
                            </m:sub>
                          </m:sSub>
                        </m:e>
                      </m:d>
                      <m:r>
                        <a:rPr lang="ar-AE" sz="1200" b="0" i="0" kern="1200">
                          <a:solidFill>
                            <a:schemeClr val="tx1"/>
                          </a:solidFill>
                          <a:latin typeface="+mn-lt"/>
                          <a:ea typeface="+mn-ea"/>
                          <a:cs typeface="+mn-cs"/>
                        </a:rPr>
                        <m:t>=</m:t>
                      </m:r>
                      <m:limLow>
                        <m:limLowPr>
                          <m:ctrlPr>
                            <a:rPr lang="ar-AE" sz="1200" b="0" i="1" kern="1200">
                              <a:solidFill>
                                <a:schemeClr val="tx1"/>
                              </a:solidFill>
                              <a:latin typeface="+mn-lt"/>
                              <a:ea typeface="+mn-ea"/>
                              <a:cs typeface="+mn-cs"/>
                            </a:rPr>
                          </m:ctrlPr>
                        </m:limLowPr>
                        <m:e>
                          <m:func>
                            <m:funcPr>
                              <m:ctrlPr>
                                <a:rPr lang="ar-AE" sz="1200" b="0" i="1" kern="1200">
                                  <a:solidFill>
                                    <a:schemeClr val="tx1"/>
                                  </a:solidFill>
                                  <a:latin typeface="+mn-lt"/>
                                  <a:ea typeface="+mn-ea"/>
                                  <a:cs typeface="+mn-cs"/>
                                </a:rPr>
                              </m:ctrlPr>
                            </m:funcPr>
                            <m:fName>
                              <m:r>
                                <m:rPr>
                                  <m:sty m:val="p"/>
                                </m:rPr>
                                <a:rPr lang="vi-VN" sz="1200" b="0" i="0" kern="1200">
                                  <a:solidFill>
                                    <a:schemeClr val="tx1"/>
                                  </a:solidFill>
                                  <a:latin typeface="+mn-lt"/>
                                  <a:ea typeface="+mn-ea"/>
                                  <a:cs typeface="+mn-cs"/>
                                </a:rPr>
                                <m:t>min</m:t>
                              </m:r>
                            </m:fName>
                            <m:e/>
                          </m:func>
                        </m:e>
                        <m:lim>
                          <m:r>
                            <a:rPr lang="ar-AE" sz="1200" b="0" i="1" kern="1200">
                              <a:solidFill>
                                <a:schemeClr val="tx1"/>
                              </a:solidFill>
                              <a:latin typeface="+mn-lt"/>
                              <a:ea typeface="+mn-ea"/>
                              <a:cs typeface="+mn-cs"/>
                            </a:rPr>
                            <m:t>𝑡</m:t>
                          </m:r>
                        </m:lim>
                      </m:limLow>
                      <m:d>
                        <m:dPr>
                          <m:begChr m:val="{"/>
                          <m:endChr m:val="}"/>
                          <m:ctrlPr>
                            <a:rPr lang="ar-AE" sz="1200" b="0" i="1" kern="1200">
                              <a:solidFill>
                                <a:schemeClr val="tx1"/>
                              </a:solidFill>
                              <a:latin typeface="+mn-lt"/>
                              <a:ea typeface="+mn-ea"/>
                              <a:cs typeface="+mn-cs"/>
                            </a:rPr>
                          </m:ctrlPr>
                        </m:dPr>
                        <m:e>
                          <m:r>
                            <m:rPr>
                              <m:nor/>
                            </m:rPr>
                            <a:rPr lang="vi-VN" sz="1200" b="0" i="1" kern="1200">
                              <a:solidFill>
                                <a:schemeClr val="tx1"/>
                              </a:solidFill>
                              <a:latin typeface="+mn-lt"/>
                              <a:ea typeface="+mn-ea"/>
                              <a:cs typeface="+mn-cs"/>
                            </a:rPr>
                            <m:t>Verify</m:t>
                          </m:r>
                          <m:d>
                            <m:dPr>
                              <m:sepChr m:val=","/>
                              <m:ctrlPr>
                                <a:rPr lang="ar-AE" sz="1200" b="0" i="1" kern="1200">
                                  <a:solidFill>
                                    <a:schemeClr val="tx1"/>
                                  </a:solidFill>
                                  <a:latin typeface="+mn-lt"/>
                                  <a:ea typeface="+mn-ea"/>
                                  <a:cs typeface="+mn-cs"/>
                                </a:rPr>
                              </m:ctrlPr>
                            </m:dPr>
                            <m:e>
                              <m:sSubSup>
                                <m:sSubSupPr>
                                  <m:ctrlPr>
                                    <a:rPr lang="ar-AE" sz="1200" b="0" i="1" kern="1200">
                                      <a:solidFill>
                                        <a:schemeClr val="tx1"/>
                                      </a:solidFill>
                                      <a:latin typeface="+mn-lt"/>
                                      <a:ea typeface="+mn-ea"/>
                                      <a:cs typeface="+mn-cs"/>
                                    </a:rPr>
                                  </m:ctrlPr>
                                </m:sSubSupPr>
                                <m:e>
                                  <m:r>
                                    <a:rPr lang="ar-AE" sz="1200" b="0" i="1" kern="1200">
                                      <a:solidFill>
                                        <a:schemeClr val="tx1"/>
                                      </a:solidFill>
                                      <a:latin typeface="+mn-lt"/>
                                      <a:ea typeface="+mn-ea"/>
                                      <a:cs typeface="+mn-cs"/>
                                    </a:rPr>
                                    <m:t>𝑠</m:t>
                                  </m:r>
                                </m:e>
                                <m:sub>
                                  <m:r>
                                    <a:rPr lang="ar-AE" sz="1200" b="0" i="1" kern="1200">
                                      <a:solidFill>
                                        <a:schemeClr val="tx1"/>
                                      </a:solidFill>
                                      <a:latin typeface="+mn-lt"/>
                                      <a:ea typeface="+mn-ea"/>
                                      <a:cs typeface="+mn-cs"/>
                                    </a:rPr>
                                    <m:t>𝑡</m:t>
                                  </m:r>
                                  <m:r>
                                    <a:rPr lang="ar-AE" sz="1200" b="0" i="0" kern="1200">
                                      <a:solidFill>
                                        <a:schemeClr val="tx1"/>
                                      </a:solidFill>
                                      <a:latin typeface="+mn-lt"/>
                                      <a:ea typeface="+mn-ea"/>
                                      <a:cs typeface="+mn-cs"/>
                                    </a:rPr>
                                    <m:t>+</m:t>
                                  </m:r>
                                  <m:r>
                                    <a:rPr lang="ar-AE" sz="1200" b="0" i="0" kern="1200">
                                      <a:solidFill>
                                        <a:schemeClr val="tx1"/>
                                      </a:solidFill>
                                      <a:latin typeface="+mn-lt"/>
                                      <a:ea typeface="+mn-ea"/>
                                      <a:cs typeface="+mn-cs"/>
                                    </a:rPr>
                                    <m:t>1</m:t>
                                  </m:r>
                                </m:sub>
                                <m:sup>
                                  <m:r>
                                    <a:rPr lang="ar-AE" sz="1200" b="0" i="1" kern="1200">
                                      <a:solidFill>
                                        <a:schemeClr val="tx1"/>
                                      </a:solidFill>
                                      <a:latin typeface="+mn-lt"/>
                                      <a:ea typeface="+mn-ea"/>
                                      <a:cs typeface="+mn-cs"/>
                                    </a:rPr>
                                    <m:t>𝑒</m:t>
                                  </m:r>
                                </m:sup>
                              </m:sSubSup>
                            </m:e>
                            <m:e>
                              <m:sSubSup>
                                <m:sSubSupPr>
                                  <m:ctrlPr>
                                    <a:rPr lang="ar-AE" sz="1200" b="0" i="1" kern="1200">
                                      <a:solidFill>
                                        <a:schemeClr val="tx1"/>
                                      </a:solidFill>
                                      <a:latin typeface="+mn-lt"/>
                                      <a:ea typeface="+mn-ea"/>
                                      <a:cs typeface="+mn-cs"/>
                                    </a:rPr>
                                  </m:ctrlPr>
                                </m:sSubSupPr>
                                <m:e>
                                  <m:r>
                                    <a:rPr lang="ar-AE" sz="1200" b="0" i="1" kern="1200">
                                      <a:solidFill>
                                        <a:schemeClr val="tx1"/>
                                      </a:solidFill>
                                      <a:latin typeface="+mn-lt"/>
                                      <a:ea typeface="+mn-ea"/>
                                      <a:cs typeface="+mn-cs"/>
                                    </a:rPr>
                                    <m:t>𝑎</m:t>
                                  </m:r>
                                </m:e>
                                <m:sub>
                                  <m:r>
                                    <a:rPr lang="ar-AE" sz="1200" b="0" i="1" kern="1200">
                                      <a:solidFill>
                                        <a:schemeClr val="tx1"/>
                                      </a:solidFill>
                                      <a:latin typeface="+mn-lt"/>
                                      <a:ea typeface="+mn-ea"/>
                                      <a:cs typeface="+mn-cs"/>
                                    </a:rPr>
                                    <m:t>𝑡</m:t>
                                  </m:r>
                                </m:sub>
                                <m:sup>
                                  <m:r>
                                    <a:rPr lang="ar-AE" sz="1200" b="0" i="1" kern="1200">
                                      <a:solidFill>
                                        <a:schemeClr val="tx1"/>
                                      </a:solidFill>
                                      <a:latin typeface="+mn-lt"/>
                                      <a:ea typeface="+mn-ea"/>
                                      <a:cs typeface="+mn-cs"/>
                                    </a:rPr>
                                    <m:t>𝑒</m:t>
                                  </m:r>
                                </m:sup>
                              </m:sSubSup>
                            </m:e>
                            <m:e>
                              <m:r>
                                <a:rPr lang="ar-AE" sz="1200" b="0" i="1" kern="1200">
                                  <a:solidFill>
                                    <a:schemeClr val="tx1"/>
                                  </a:solidFill>
                                  <a:latin typeface="+mn-lt"/>
                                  <a:ea typeface="+mn-ea"/>
                                  <a:cs typeface="+mn-cs"/>
                                </a:rPr>
                                <m:t>𝐾</m:t>
                              </m:r>
                            </m:e>
                            <m:e>
                              <m:r>
                                <a:rPr lang="ar-AE" sz="1200" b="0" i="1" kern="1200">
                                  <a:solidFill>
                                    <a:schemeClr val="tx1"/>
                                  </a:solidFill>
                                  <a:latin typeface="+mn-lt"/>
                                  <a:ea typeface="+mn-ea"/>
                                  <a:cs typeface="+mn-cs"/>
                                </a:rPr>
                                <m:t>𝐺</m:t>
                              </m:r>
                            </m:e>
                            <m:e>
                              <m:r>
                                <a:rPr lang="ar-AE" sz="1200" b="0" i="1" kern="1200">
                                  <a:solidFill>
                                    <a:schemeClr val="tx1"/>
                                  </a:solidFill>
                                  <a:latin typeface="+mn-lt"/>
                                  <a:ea typeface="+mn-ea"/>
                                  <a:cs typeface="+mn-cs"/>
                                </a:rPr>
                                <m:t>𝑡</m:t>
                              </m:r>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𝜃</m:t>
                                  </m:r>
                                </m:e>
                                <m:sub>
                                  <m:r>
                                    <a:rPr lang="ar-AE" sz="1200" b="0" i="1" kern="1200">
                                      <a:solidFill>
                                        <a:schemeClr val="tx1"/>
                                      </a:solidFill>
                                      <a:latin typeface="+mn-lt"/>
                                      <a:ea typeface="+mn-ea"/>
                                      <a:cs typeface="+mn-cs"/>
                                    </a:rPr>
                                    <m:t>𝐻</m:t>
                                  </m:r>
                                </m:sub>
                              </m:sSub>
                            </m:e>
                          </m:d>
                          <m:r>
                            <a:rPr lang="ar-AE" sz="1200" b="0" i="0" kern="1200">
                              <a:solidFill>
                                <a:schemeClr val="tx1"/>
                              </a:solidFill>
                              <a:latin typeface="+mn-lt"/>
                              <a:ea typeface="+mn-ea"/>
                              <a:cs typeface="+mn-cs"/>
                            </a:rPr>
                            <m:t>=</m:t>
                          </m:r>
                          <m:r>
                            <m:rPr>
                              <m:nor/>
                            </m:rPr>
                            <a:rPr lang="vi-VN" sz="1200" b="0" i="1" kern="1200">
                              <a:solidFill>
                                <a:schemeClr val="tx1"/>
                              </a:solidFill>
                              <a:latin typeface="+mn-lt"/>
                              <a:ea typeface="+mn-ea"/>
                              <a:cs typeface="+mn-cs"/>
                            </a:rPr>
                            <m:t>False</m:t>
                          </m:r>
                        </m:e>
                      </m:d>
                      <m:r>
                        <a:rPr lang="ar-AE" sz="1200" b="0" i="0" kern="1200">
                          <a:solidFill>
                            <a:schemeClr val="tx1"/>
                          </a:solidFill>
                          <a:latin typeface="+mn-lt"/>
                          <a:ea typeface="+mn-ea"/>
                          <a:cs typeface="+mn-cs"/>
                        </a:rPr>
                        <m:t>.</m:t>
                      </m:r>
                    </m:oMath>
                  </m:oMathPara>
                </a14:m>
                <a:endParaRPr lang="ar-AE" b="0"/>
              </a:p>
              <a:p>
                <a:r>
                  <a:rPr lang="vi-VN"/>
                  <a:t>Trong đó, </a:t>
                </a:r>
                <a14:m>
                  <m:oMath xmlns:m="http://schemas.openxmlformats.org/officeDocument/2006/math">
                    <m:r>
                      <m:rPr>
                        <m:nor/>
                      </m:rPr>
                      <a:rPr lang="vi-VN" b="0"/>
                      <m:t>Verify</m:t>
                    </m:r>
                    <m:d>
                      <m:dPr>
                        <m:ctrlPr>
                          <a:rPr lang="ar-AE" sz="1200" b="0" i="1" kern="1200">
                            <a:solidFill>
                              <a:schemeClr val="tx1"/>
                            </a:solidFill>
                            <a:latin typeface="+mn-lt"/>
                            <a:ea typeface="+mn-ea"/>
                            <a:cs typeface="+mn-cs"/>
                          </a:rPr>
                        </m:ctrlPr>
                      </m:dPr>
                      <m:e>
                        <m:r>
                          <a:rPr lang="ar-AE" sz="1200" b="0" i="0" kern="1200">
                            <a:solidFill>
                              <a:schemeClr val="tx1"/>
                            </a:solidFill>
                            <a:latin typeface="+mn-lt"/>
                            <a:ea typeface="+mn-ea"/>
                            <a:cs typeface="+mn-cs"/>
                          </a:rPr>
                          <m:t>⋅</m:t>
                        </m:r>
                      </m:e>
                    </m:d>
                    <m:r>
                      <a:rPr lang="ar-AE" sz="1200" b="0" i="0" kern="1200">
                        <a:solidFill>
                          <a:schemeClr val="tx1"/>
                        </a:solidFill>
                        <a:latin typeface="+mn-lt"/>
                        <a:ea typeface="+mn-ea"/>
                        <a:cs typeface="+mn-cs"/>
                      </a:rPr>
                      <m:t>∈</m:t>
                    </m:r>
                    <m:d>
                      <m:dPr>
                        <m:begChr m:val="{"/>
                        <m:endChr m:val="}"/>
                        <m:sepChr m:val=","/>
                        <m:ctrlPr>
                          <a:rPr lang="ar-AE" sz="1200" b="0" i="1" kern="1200">
                            <a:solidFill>
                              <a:schemeClr val="tx1"/>
                            </a:solidFill>
                            <a:latin typeface="+mn-lt"/>
                            <a:ea typeface="+mn-ea"/>
                            <a:cs typeface="+mn-cs"/>
                          </a:rPr>
                        </m:ctrlPr>
                      </m:dPr>
                      <m:e>
                        <m:r>
                          <a:rPr lang="ar-AE" sz="1200" b="0" i="1" kern="1200">
                            <a:solidFill>
                              <a:schemeClr val="tx1"/>
                            </a:solidFill>
                            <a:latin typeface="+mn-lt"/>
                            <a:ea typeface="+mn-ea"/>
                            <a:cs typeface="+mn-cs"/>
                          </a:rPr>
                          <m:t>𝑇</m:t>
                        </m:r>
                      </m:e>
                      <m:e>
                        <m:r>
                          <a:rPr lang="ar-AE" sz="1200" b="0" i="1" kern="1200">
                            <a:solidFill>
                              <a:schemeClr val="tx1"/>
                            </a:solidFill>
                            <a:latin typeface="+mn-lt"/>
                            <a:ea typeface="+mn-ea"/>
                            <a:cs typeface="+mn-cs"/>
                          </a:rPr>
                          <m:t>𝑟𝑢𝑒𝐹𝑎𝑙𝑠𝑒</m:t>
                        </m:r>
                      </m:e>
                    </m:d>
                  </m:oMath>
                </a14:m>
                <a:r>
                  <a:rPr lang="vi-VN"/>
                  <a:t>kiểm tra xem việc thực hiện hành động </a:t>
                </a:r>
                <a14:m>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𝑎</m:t>
                        </m:r>
                      </m:e>
                      <m:sub>
                        <m:r>
                          <a:rPr lang="ar-AE" sz="1200" i="1" kern="1200">
                            <a:solidFill>
                              <a:schemeClr val="tx1"/>
                            </a:solidFill>
                            <a:latin typeface="+mn-lt"/>
                            <a:ea typeface="+mn-ea"/>
                            <a:cs typeface="+mn-cs"/>
                          </a:rPr>
                          <m:t>𝑡</m:t>
                        </m:r>
                      </m:sub>
                      <m:sup>
                        <m:r>
                          <a:rPr lang="ar-AE" sz="1200" i="1" kern="1200">
                            <a:solidFill>
                              <a:schemeClr val="tx1"/>
                            </a:solidFill>
                            <a:latin typeface="+mn-lt"/>
                            <a:ea typeface="+mn-ea"/>
                            <a:cs typeface="+mn-cs"/>
                          </a:rPr>
                          <m:t>𝑒</m:t>
                        </m:r>
                      </m:sup>
                    </m:sSubSup>
                  </m:oMath>
                </a14:m>
                <a:r>
                  <a:rPr lang="vi-VN"/>
                  <a:t>tại trạng thái </a:t>
                </a:r>
                <a14:m>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𝑠</m:t>
                        </m:r>
                      </m:e>
                      <m:sub>
                        <m:r>
                          <a:rPr lang="ar-AE" sz="1200" i="1" kern="1200">
                            <a:solidFill>
                              <a:schemeClr val="tx1"/>
                            </a:solidFill>
                            <a:latin typeface="+mn-lt"/>
                            <a:ea typeface="+mn-ea"/>
                            <a:cs typeface="+mn-cs"/>
                          </a:rPr>
                          <m:t>𝑡</m:t>
                        </m:r>
                      </m:sub>
                      <m:sup>
                        <m:r>
                          <a:rPr lang="ar-AE" sz="1200" i="1" kern="1200">
                            <a:solidFill>
                              <a:schemeClr val="tx1"/>
                            </a:solidFill>
                            <a:latin typeface="+mn-lt"/>
                            <a:ea typeface="+mn-ea"/>
                            <a:cs typeface="+mn-cs"/>
                          </a:rPr>
                          <m:t>𝑒</m:t>
                        </m:r>
                      </m:sup>
                    </m:sSubSup>
                  </m:oMath>
                </a14:m>
                <a:r>
                  <a:rPr lang="vi-VN"/>
                  <a:t>có tạo ra trạng thái tiếp theo </a:t>
                </a:r>
                <a14:m>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𝑠</m:t>
                        </m:r>
                      </m:e>
                      <m:sub>
                        <m:r>
                          <a:rPr lang="ar-AE" sz="1200" i="1" kern="1200">
                            <a:solidFill>
                              <a:schemeClr val="tx1"/>
                            </a:solidFill>
                            <a:latin typeface="+mn-lt"/>
                            <a:ea typeface="+mn-ea"/>
                            <a:cs typeface="+mn-cs"/>
                          </a:rPr>
                          <m:t>𝑡</m:t>
                        </m:r>
                        <m:r>
                          <a:rPr lang="ar-AE" sz="1200" i="0" kern="1200">
                            <a:solidFill>
                              <a:schemeClr val="tx1"/>
                            </a:solidFill>
                            <a:latin typeface="+mn-lt"/>
                            <a:ea typeface="+mn-ea"/>
                            <a:cs typeface="+mn-cs"/>
                          </a:rPr>
                          <m:t>+</m:t>
                        </m:r>
                        <m:r>
                          <a:rPr lang="ar-AE" sz="1200" i="0" kern="1200">
                            <a:solidFill>
                              <a:schemeClr val="tx1"/>
                            </a:solidFill>
                            <a:latin typeface="+mn-lt"/>
                            <a:ea typeface="+mn-ea"/>
                            <a:cs typeface="+mn-cs"/>
                          </a:rPr>
                          <m:t>1</m:t>
                        </m:r>
                      </m:sub>
                      <m:sup>
                        <m:r>
                          <a:rPr lang="ar-AE" sz="1200" i="1" kern="1200">
                            <a:solidFill>
                              <a:schemeClr val="tx1"/>
                            </a:solidFill>
                            <a:latin typeface="+mn-lt"/>
                            <a:ea typeface="+mn-ea"/>
                            <a:cs typeface="+mn-cs"/>
                          </a:rPr>
                          <m:t>𝑒</m:t>
                        </m:r>
                      </m:sup>
                    </m:sSubSup>
                  </m:oMath>
                </a14:m>
                <a:r>
                  <a:rPr lang="vi-VN"/>
                  <a:t>phù hợp với kết quả mong đợi tại bước quan trọng </a:t>
                </a:r>
                <a14:m>
                  <m:oMath xmlns:m="http://schemas.openxmlformats.org/officeDocument/2006/math">
                    <m:r>
                      <a:rPr lang="vi-VN" sz="1200" i="1" kern="1200">
                        <a:solidFill>
                          <a:schemeClr val="tx1"/>
                        </a:solidFill>
                        <a:latin typeface="+mn-lt"/>
                        <a:ea typeface="+mn-ea"/>
                        <a:cs typeface="+mn-cs"/>
                      </a:rPr>
                      <m:t>𝑡</m:t>
                    </m:r>
                  </m:oMath>
                </a14:m>
                <a:r>
                  <a:rPr lang="vi-VN"/>
                  <a:t>được mô tả trong </a:t>
                </a:r>
                <a14:m>
                  <m:oMath xmlns:m="http://schemas.openxmlformats.org/officeDocument/2006/math">
                    <m:r>
                      <a:rPr lang="vi-VN" sz="1200" i="1" kern="1200">
                        <a:solidFill>
                          <a:schemeClr val="tx1"/>
                        </a:solidFill>
                        <a:latin typeface="+mn-lt"/>
                        <a:ea typeface="+mn-ea"/>
                        <a:cs typeface="+mn-cs"/>
                      </a:rPr>
                      <m:t>𝐾𝐺</m:t>
                    </m:r>
                  </m:oMath>
                </a14:m>
                <a:r>
                  <a:rPr lang="vi-VN"/>
                  <a:t>hay không. </a:t>
                </a:r>
              </a:p>
              <a:p>
                <a:br>
                  <a:rPr lang="vi-VN"/>
                </a:br>
                <a:endParaRPr lang="vi-VN"/>
              </a:p>
              <a:p>
                <a:r>
                  <a:rPr lang="vi-VN" b="1"/>
                  <a:t>4.2.4 REVISE</a:t>
                </a:r>
                <a:r>
                  <a:rPr lang="vi-VN"/>
                  <a:t> </a:t>
                </a:r>
              </a:p>
              <a:p>
                <a:r>
                  <a:rPr lang="vi-VN"/>
                  <a:t>Cuối cùng, dựa trên giải thích lỗi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𝑀</m:t>
                        </m:r>
                      </m:e>
                      <m:sub>
                        <m:r>
                          <a:rPr lang="ar-AE" sz="1200" i="1" kern="1200">
                            <a:solidFill>
                              <a:schemeClr val="tx1"/>
                            </a:solidFill>
                            <a:latin typeface="+mn-lt"/>
                            <a:ea typeface="+mn-ea"/>
                            <a:cs typeface="+mn-cs"/>
                          </a:rPr>
                          <m:t>𝑐𝑎𝑠𝑒</m:t>
                        </m:r>
                      </m:sub>
                    </m:sSub>
                  </m:oMath>
                </a14:m>
                <a:r>
                  <a:rPr lang="vi-VN"/>
                  <a:t>và điểm lỗi </a:t>
                </a:r>
                <a14:m>
                  <m:oMath xmlns:m="http://schemas.openxmlformats.org/officeDocument/2006/math">
                    <m:d>
                      <m:dPr>
                        <m:sepChr m:val=","/>
                        <m:ctrlPr>
                          <a:rPr lang="ar-AE" sz="1200" kern="1200">
                            <a:solidFill>
                              <a:schemeClr val="tx1"/>
                            </a:solidFill>
                            <a:latin typeface="+mn-lt"/>
                            <a:ea typeface="+mn-ea"/>
                            <a:cs typeface="+mn-cs"/>
                          </a:rPr>
                        </m:ctrlPr>
                      </m:dPr>
                      <m:e>
                        <m:sSup>
                          <m:sSupPr>
                            <m:ctrlPr>
                              <a:rPr lang="ar-AE" sz="1200" i="1" kern="1200">
                                <a:solidFill>
                                  <a:schemeClr val="tx1"/>
                                </a:solidFill>
                                <a:latin typeface="+mn-lt"/>
                                <a:ea typeface="+mn-ea"/>
                                <a:cs typeface="+mn-cs"/>
                              </a:rPr>
                            </m:ctrlPr>
                          </m:sSupPr>
                          <m:e>
                            <m:r>
                              <a:rPr lang="ar-AE" sz="1200" i="1" kern="1200">
                                <a:solidFill>
                                  <a:schemeClr val="tx1"/>
                                </a:solidFill>
                                <a:latin typeface="+mn-lt"/>
                                <a:ea typeface="+mn-ea"/>
                                <a:cs typeface="+mn-cs"/>
                              </a:rPr>
                              <m:t>𝑡</m:t>
                            </m:r>
                          </m:e>
                          <m:sup>
                            <m:r>
                              <a:rPr lang="ar-AE" sz="1200" i="0" kern="1200">
                                <a:solidFill>
                                  <a:schemeClr val="tx1"/>
                                </a:solidFill>
                                <a:latin typeface="+mn-lt"/>
                                <a:ea typeface="+mn-ea"/>
                                <a:cs typeface="+mn-cs"/>
                              </a:rPr>
                              <m:t>∗</m:t>
                            </m:r>
                          </m:sup>
                        </m:sSup>
                      </m:e>
                      <m:e>
                        <m:sSubSup>
                          <m:sSubSupPr>
                            <m:ctrlPr>
                              <a:rPr lang="ar-AE" sz="1200" i="1" kern="1200">
                                <a:solidFill>
                                  <a:schemeClr val="tx1"/>
                                </a:solidFill>
                                <a:latin typeface="+mn-lt"/>
                                <a:ea typeface="+mn-ea"/>
                                <a:cs typeface="+mn-cs"/>
                              </a:rPr>
                            </m:ctrlPr>
                          </m:sSubSupPr>
                          <m:e>
                            <m:r>
                              <a:rPr lang="ar-AE" sz="1200" i="1" kern="1200">
                                <a:solidFill>
                                  <a:schemeClr val="tx1"/>
                                </a:solidFill>
                                <a:latin typeface="+mn-lt"/>
                                <a:ea typeface="+mn-ea"/>
                                <a:cs typeface="+mn-cs"/>
                              </a:rPr>
                              <m:t>𝑠</m:t>
                            </m:r>
                          </m:e>
                          <m:sub>
                            <m:sSup>
                              <m:sSupPr>
                                <m:ctrlPr>
                                  <a:rPr lang="ar-AE" sz="1200" i="1" kern="1200">
                                    <a:solidFill>
                                      <a:schemeClr val="tx1"/>
                                    </a:solidFill>
                                    <a:latin typeface="+mn-lt"/>
                                    <a:ea typeface="+mn-ea"/>
                                    <a:cs typeface="+mn-cs"/>
                                  </a:rPr>
                                </m:ctrlPr>
                              </m:sSupPr>
                              <m:e>
                                <m:r>
                                  <a:rPr lang="ar-AE" sz="1200" i="1" kern="1200">
                                    <a:solidFill>
                                      <a:schemeClr val="tx1"/>
                                    </a:solidFill>
                                    <a:latin typeface="+mn-lt"/>
                                    <a:ea typeface="+mn-ea"/>
                                    <a:cs typeface="+mn-cs"/>
                                  </a:rPr>
                                  <m:t>𝑡</m:t>
                                </m:r>
                              </m:e>
                              <m:sup>
                                <m:r>
                                  <a:rPr lang="ar-AE" sz="1200" i="0" kern="1200">
                                    <a:solidFill>
                                      <a:schemeClr val="tx1"/>
                                    </a:solidFill>
                                    <a:latin typeface="+mn-lt"/>
                                    <a:ea typeface="+mn-ea"/>
                                    <a:cs typeface="+mn-cs"/>
                                  </a:rPr>
                                  <m:t>∗</m:t>
                                </m:r>
                              </m:sup>
                            </m:sSup>
                          </m:sub>
                          <m:sup>
                            <m:r>
                              <a:rPr lang="ar-AE" sz="1200" i="1" kern="1200">
                                <a:solidFill>
                                  <a:schemeClr val="tx1"/>
                                </a:solidFill>
                                <a:latin typeface="+mn-lt"/>
                                <a:ea typeface="+mn-ea"/>
                                <a:cs typeface="+mn-cs"/>
                              </a:rPr>
                              <m:t>𝑒</m:t>
                            </m:r>
                          </m:sup>
                        </m:sSubSup>
                      </m:e>
                    </m:d>
                  </m:oMath>
                </a14:m>
                <a:r>
                  <a:rPr lang="ar-AE"/>
                  <a:t>, </a:t>
                </a:r>
                <a:r>
                  <a:rPr lang="vi-VN"/>
                  <a:t>hệ thống thực hiện các chỉnh sửa cục bộ trên </a:t>
                </a:r>
                <a14:m>
                  <m:oMath xmlns:m="http://schemas.openxmlformats.org/officeDocument/2006/math">
                    <m:r>
                      <a:rPr lang="vi-VN" sz="1200" i="1" kern="1200">
                        <a:solidFill>
                          <a:schemeClr val="tx1"/>
                        </a:solidFill>
                        <a:latin typeface="+mn-lt"/>
                        <a:ea typeface="+mn-ea"/>
                        <a:cs typeface="+mn-cs"/>
                      </a:rPr>
                      <m:t>𝐾𝐺</m:t>
                    </m:r>
                  </m:oMath>
                </a14:m>
                <a:r>
                  <a:rPr lang="vi-VN"/>
                  <a:t>thông qua bốn phép toán nguyên tử:</a:t>
                </a:r>
              </a:p>
              <a:p>
                <a:r>
                  <a:rPr lang="vi-VN" b="1"/>
                  <a:t>Add</a:t>
                </a:r>
                <a:r>
                  <a:rPr lang="vi-VN"/>
                  <a:t>: thêm các bước còn thiếu </a:t>
                </a:r>
              </a:p>
              <a:p>
                <a:r>
                  <a:rPr lang="vi-VN" b="1"/>
                  <a:t>Delete</a:t>
                </a:r>
                <a:r>
                  <a:rPr lang="vi-VN"/>
                  <a:t>: loại bỏ các hướng dẫn sai </a:t>
                </a:r>
              </a:p>
              <a:p>
                <a:r>
                  <a:rPr lang="vi-VN" b="1"/>
                  <a:t>Update</a:t>
                </a:r>
                <a:r>
                  <a:rPr lang="vi-VN"/>
                  <a:t>: chỉnh sửa các hướng dẫn hiện có </a:t>
                </a:r>
              </a:p>
              <a:p>
                <a:r>
                  <a:rPr lang="vi-VN" b="1"/>
                  <a:t>Highlight</a:t>
                </a:r>
                <a:r>
                  <a:rPr lang="vi-VN"/>
                  <a:t>: nhấn mạnh các ràng buộc quan trọng </a:t>
                </a:r>
              </a:p>
              <a:p>
                <a:r>
                  <a:rPr lang="vi-VN"/>
                  <a:t>Các thao tác này tạo ra một phiên bản tri thức đã được sửa đổi </a:t>
                </a:r>
                <a14:m>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𝐾</m:t>
                        </m:r>
                      </m:e>
                      <m:sub>
                        <m:r>
                          <a:rPr lang="ar-AE" sz="1200" i="1" kern="1200">
                            <a:solidFill>
                              <a:schemeClr val="tx1"/>
                            </a:solidFill>
                            <a:latin typeface="+mn-lt"/>
                            <a:ea typeface="+mn-ea"/>
                            <a:cs typeface="+mn-cs"/>
                          </a:rPr>
                          <m:t>𝐺</m:t>
                        </m:r>
                      </m:sub>
                      <m:sup>
                        <m:r>
                          <a:rPr lang="ar-AE" sz="1200" i="0" kern="1200">
                            <a:solidFill>
                              <a:schemeClr val="tx1"/>
                            </a:solidFill>
                            <a:latin typeface="+mn-lt"/>
                            <a:ea typeface="+mn-ea"/>
                            <a:cs typeface="+mn-cs"/>
                          </a:rPr>
                          <m:t>′</m:t>
                        </m:r>
                      </m:sup>
                    </m:sSubSup>
                  </m:oMath>
                </a14:m>
                <a:r>
                  <a:rPr lang="ar-AE"/>
                  <a:t>:</a:t>
                </a:r>
              </a:p>
              <a:p>
                <a14:m>
                  <m:oMathPara xmlns:m="http://schemas.openxmlformats.org/officeDocument/2006/math">
                    <m:oMathParaPr>
                      <m:jc m:val="centerGroup"/>
                    </m:oMathParaPr>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𝐾</m:t>
                          </m:r>
                        </m:e>
                        <m:sub>
                          <m:r>
                            <a:rPr lang="ar-AE" sz="1200" i="1" kern="1200">
                              <a:solidFill>
                                <a:schemeClr val="tx1"/>
                              </a:solidFill>
                              <a:latin typeface="+mn-lt"/>
                              <a:ea typeface="+mn-ea"/>
                              <a:cs typeface="+mn-cs"/>
                            </a:rPr>
                            <m:t>𝐺</m:t>
                          </m:r>
                        </m:sub>
                        <m:sup>
                          <m:r>
                            <a:rPr lang="ar-AE" sz="1200" i="0" kern="1200">
                              <a:solidFill>
                                <a:schemeClr val="tx1"/>
                              </a:solidFill>
                              <a:latin typeface="+mn-lt"/>
                              <a:ea typeface="+mn-ea"/>
                              <a:cs typeface="+mn-cs"/>
                            </a:rPr>
                            <m:t>′</m:t>
                          </m:r>
                        </m:sup>
                      </m:sSubSup>
                      <m:r>
                        <a:rPr lang="ar-AE" sz="1200" i="0" kern="1200">
                          <a:solidFill>
                            <a:schemeClr val="tx1"/>
                          </a:solidFill>
                          <a:latin typeface="+mn-lt"/>
                          <a:ea typeface="+mn-ea"/>
                          <a:cs typeface="+mn-cs"/>
                        </a:rPr>
                        <m:t>=</m:t>
                      </m:r>
                      <m:r>
                        <m:rPr>
                          <m:nor/>
                        </m:rPr>
                        <a:rPr lang="vi-VN" sz="1200" b="0" i="1" kern="1200">
                          <a:solidFill>
                            <a:schemeClr val="tx1"/>
                          </a:solidFill>
                          <a:latin typeface="+mn-lt"/>
                          <a:ea typeface="+mn-ea"/>
                          <a:cs typeface="+mn-cs"/>
                        </a:rPr>
                        <m:t>Revise</m:t>
                      </m:r>
                      <m:d>
                        <m:dPr>
                          <m:sepChr m:val=","/>
                          <m:ctrlPr>
                            <a:rPr lang="ar-AE" sz="1200" b="0" i="1" kern="1200">
                              <a:solidFill>
                                <a:schemeClr val="tx1"/>
                              </a:solidFill>
                              <a:latin typeface="+mn-lt"/>
                              <a:ea typeface="+mn-ea"/>
                              <a:cs typeface="+mn-cs"/>
                            </a:rPr>
                          </m:ctrlPr>
                        </m:dPr>
                        <m:e>
                          <m:r>
                            <a:rPr lang="ar-AE" sz="1200" b="0" i="1" kern="1200">
                              <a:solidFill>
                                <a:schemeClr val="tx1"/>
                              </a:solidFill>
                              <a:latin typeface="+mn-lt"/>
                              <a:ea typeface="+mn-ea"/>
                              <a:cs typeface="+mn-cs"/>
                            </a:rPr>
                            <m:t>𝐾</m:t>
                          </m:r>
                        </m:e>
                        <m:e>
                          <m:r>
                            <a:rPr lang="ar-AE" sz="1200" b="0" i="1" kern="1200">
                              <a:solidFill>
                                <a:schemeClr val="tx1"/>
                              </a:solidFill>
                              <a:latin typeface="+mn-lt"/>
                              <a:ea typeface="+mn-ea"/>
                              <a:cs typeface="+mn-cs"/>
                            </a:rPr>
                            <m:t>𝐺</m:t>
                          </m:r>
                        </m:e>
                        <m:e>
                          <m:d>
                            <m:dPr>
                              <m:sepChr m:val=","/>
                              <m:ctrlPr>
                                <a:rPr lang="ar-AE" sz="1200" b="0" i="1" kern="1200">
                                  <a:solidFill>
                                    <a:schemeClr val="tx1"/>
                                  </a:solidFill>
                                  <a:latin typeface="+mn-lt"/>
                                  <a:ea typeface="+mn-ea"/>
                                  <a:cs typeface="+mn-cs"/>
                                </a:rPr>
                              </m:ctrlPr>
                            </m:dPr>
                            <m:e>
                              <m:sSup>
                                <m:sSupPr>
                                  <m:ctrlPr>
                                    <a:rPr lang="ar-AE" sz="1200" b="0" i="1" kern="1200">
                                      <a:solidFill>
                                        <a:schemeClr val="tx1"/>
                                      </a:solidFill>
                                      <a:latin typeface="+mn-lt"/>
                                      <a:ea typeface="+mn-ea"/>
                                      <a:cs typeface="+mn-cs"/>
                                    </a:rPr>
                                  </m:ctrlPr>
                                </m:sSupPr>
                                <m:e>
                                  <m:r>
                                    <a:rPr lang="ar-AE" sz="1200" b="0" i="1" kern="1200">
                                      <a:solidFill>
                                        <a:schemeClr val="tx1"/>
                                      </a:solidFill>
                                      <a:latin typeface="+mn-lt"/>
                                      <a:ea typeface="+mn-ea"/>
                                      <a:cs typeface="+mn-cs"/>
                                    </a:rPr>
                                    <m:t>𝑡</m:t>
                                  </m:r>
                                </m:e>
                                <m:sup>
                                  <m:r>
                                    <a:rPr lang="ar-AE" sz="1200" b="0" i="0" kern="1200">
                                      <a:solidFill>
                                        <a:schemeClr val="tx1"/>
                                      </a:solidFill>
                                      <a:latin typeface="+mn-lt"/>
                                      <a:ea typeface="+mn-ea"/>
                                      <a:cs typeface="+mn-cs"/>
                                    </a:rPr>
                                    <m:t>∗</m:t>
                                  </m:r>
                                </m:sup>
                              </m:sSup>
                            </m:e>
                            <m:e>
                              <m:sSubSup>
                                <m:sSubSupPr>
                                  <m:ctrlPr>
                                    <a:rPr lang="ar-AE" sz="1200" b="0" i="1" kern="1200">
                                      <a:solidFill>
                                        <a:schemeClr val="tx1"/>
                                      </a:solidFill>
                                      <a:latin typeface="+mn-lt"/>
                                      <a:ea typeface="+mn-ea"/>
                                      <a:cs typeface="+mn-cs"/>
                                    </a:rPr>
                                  </m:ctrlPr>
                                </m:sSubSupPr>
                                <m:e>
                                  <m:r>
                                    <a:rPr lang="ar-AE" sz="1200" b="0" i="1" kern="1200">
                                      <a:solidFill>
                                        <a:schemeClr val="tx1"/>
                                      </a:solidFill>
                                      <a:latin typeface="+mn-lt"/>
                                      <a:ea typeface="+mn-ea"/>
                                      <a:cs typeface="+mn-cs"/>
                                    </a:rPr>
                                    <m:t>𝑠</m:t>
                                  </m:r>
                                </m:e>
                                <m:sub>
                                  <m:sSup>
                                    <m:sSupPr>
                                      <m:ctrlPr>
                                        <a:rPr lang="ar-AE" sz="1200" b="0" i="1" kern="1200">
                                          <a:solidFill>
                                            <a:schemeClr val="tx1"/>
                                          </a:solidFill>
                                          <a:latin typeface="+mn-lt"/>
                                          <a:ea typeface="+mn-ea"/>
                                          <a:cs typeface="+mn-cs"/>
                                        </a:rPr>
                                      </m:ctrlPr>
                                    </m:sSupPr>
                                    <m:e>
                                      <m:r>
                                        <a:rPr lang="ar-AE" sz="1200" b="0" i="1" kern="1200">
                                          <a:solidFill>
                                            <a:schemeClr val="tx1"/>
                                          </a:solidFill>
                                          <a:latin typeface="+mn-lt"/>
                                          <a:ea typeface="+mn-ea"/>
                                          <a:cs typeface="+mn-cs"/>
                                        </a:rPr>
                                        <m:t>𝑡</m:t>
                                      </m:r>
                                    </m:e>
                                    <m:sup>
                                      <m:r>
                                        <a:rPr lang="ar-AE" sz="1200" b="0" i="0" kern="1200">
                                          <a:solidFill>
                                            <a:schemeClr val="tx1"/>
                                          </a:solidFill>
                                          <a:latin typeface="+mn-lt"/>
                                          <a:ea typeface="+mn-ea"/>
                                          <a:cs typeface="+mn-cs"/>
                                        </a:rPr>
                                        <m:t>∗</m:t>
                                      </m:r>
                                    </m:sup>
                                  </m:sSup>
                                </m:sub>
                                <m:sup>
                                  <m:r>
                                    <a:rPr lang="ar-AE" sz="1200" b="0" i="1" kern="1200">
                                      <a:solidFill>
                                        <a:schemeClr val="tx1"/>
                                      </a:solidFill>
                                      <a:latin typeface="+mn-lt"/>
                                      <a:ea typeface="+mn-ea"/>
                                      <a:cs typeface="+mn-cs"/>
                                    </a:rPr>
                                    <m:t>𝑒</m:t>
                                  </m:r>
                                </m:sup>
                              </m:sSubSup>
                            </m:e>
                          </m:d>
                        </m:e>
                        <m:e>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𝑀</m:t>
                              </m:r>
                            </m:e>
                            <m:sub>
                              <m:r>
                                <a:rPr lang="ar-AE" sz="1200" b="0" i="1" kern="1200">
                                  <a:solidFill>
                                    <a:schemeClr val="tx1"/>
                                  </a:solidFill>
                                  <a:latin typeface="+mn-lt"/>
                                  <a:ea typeface="+mn-ea"/>
                                  <a:cs typeface="+mn-cs"/>
                                </a:rPr>
                                <m:t>𝑐𝑎𝑠𝑒</m:t>
                              </m:r>
                            </m:sub>
                          </m:sSub>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𝜃</m:t>
                              </m:r>
                            </m:e>
                            <m:sub>
                              <m:r>
                                <a:rPr lang="ar-AE" sz="1200" b="0" i="1" kern="1200">
                                  <a:solidFill>
                                    <a:schemeClr val="tx1"/>
                                  </a:solidFill>
                                  <a:latin typeface="+mn-lt"/>
                                  <a:ea typeface="+mn-ea"/>
                                  <a:cs typeface="+mn-cs"/>
                                </a:rPr>
                                <m:t>𝐻</m:t>
                              </m:r>
                            </m:sub>
                          </m:sSub>
                        </m:e>
                      </m:d>
                      <m:r>
                        <a:rPr lang="ar-AE" sz="1200" b="0" i="0" kern="1200">
                          <a:solidFill>
                            <a:schemeClr val="tx1"/>
                          </a:solidFill>
                          <a:latin typeface="+mn-lt"/>
                          <a:ea typeface="+mn-ea"/>
                          <a:cs typeface="+mn-cs"/>
                        </a:rPr>
                        <m:t>.</m:t>
                      </m:r>
                    </m:oMath>
                  </m:oMathPara>
                </a14:m>
                <a:endParaRPr lang="ar-AE" b="0"/>
              </a:p>
              <a:p>
                <a:r>
                  <a:rPr lang="vi-VN"/>
                  <a:t>Bằng cách lặp lại vòng lặp SRLR, </a:t>
                </a:r>
                <a14:m>
                  <m:oMath xmlns:m="http://schemas.openxmlformats.org/officeDocument/2006/math">
                    <m:r>
                      <a:rPr lang="vi-VN" sz="1200" i="1" kern="1200">
                        <a:solidFill>
                          <a:schemeClr val="tx1"/>
                        </a:solidFill>
                        <a:latin typeface="+mn-lt"/>
                        <a:ea typeface="+mn-ea"/>
                        <a:cs typeface="+mn-cs"/>
                      </a:rPr>
                      <m:t>𝐾𝐺</m:t>
                    </m:r>
                  </m:oMath>
                </a14:m>
                <a:r>
                  <a:rPr lang="vi-VN"/>
                  <a:t>được cải thiện dần theo thời gian, giúp nâng cao chất lượng lập kế hoạch</a:t>
                </a:r>
              </a:p>
            </p:txBody>
          </p:sp>
        </mc:Choice>
        <mc:Fallback>
          <p:sp>
            <p:nvSpPr>
              <p:cNvPr id="3" name="Notes Placeholder 2">
                <a:extLst>
                  <a:ext uri="{FF2B5EF4-FFF2-40B4-BE49-F238E27FC236}">
                    <a16:creationId xmlns:a16="http://schemas.microsoft.com/office/drawing/2014/main" id="{663CA52A-CC5A-E7CD-EB5A-BC6FDA40490A}"/>
                  </a:ext>
                </a:extLst>
              </p:cNvPr>
              <p:cNvSpPr>
                <a:spLocks noGrp="1"/>
              </p:cNvSpPr>
              <p:nvPr>
                <p:ph type="body" idx="1"/>
              </p:nvPr>
            </p:nvSpPr>
            <p:spPr/>
            <p:txBody>
              <a:bodyPr/>
              <a:lstStyle/>
              <a:p>
                <a:r>
                  <a:rPr lang="vi-VN"/>
                  <a:t>Planner, </a:t>
                </a:r>
                <a:r>
                  <a:rPr lang="ar-AE" sz="1200" i="0" kern="1200">
                    <a:solidFill>
                      <a:schemeClr val="tx1"/>
                    </a:solidFill>
                    <a:latin typeface="+mn-lt"/>
                    <a:ea typeface="+mn-ea"/>
                    <a:cs typeface="+mn-cs"/>
                  </a:rPr>
                  <a:t>𝜋_𝐻</a:t>
                </a:r>
                <a:r>
                  <a:rPr lang="ar-AE"/>
                  <a:t>, </a:t>
                </a:r>
                <a:r>
                  <a:rPr lang="vi-VN"/>
                  <a:t>phát triển cơ sở tri thức khai báo </a:t>
                </a:r>
                <a:r>
                  <a:rPr lang="vi-VN" sz="1200" i="0" kern="1200">
                    <a:solidFill>
                      <a:schemeClr val="tx1"/>
                    </a:solidFill>
                    <a:latin typeface="+mn-lt"/>
                    <a:ea typeface="+mn-ea"/>
                    <a:cs typeface="+mn-cs"/>
                  </a:rPr>
                  <a:t>𝐾𝐺</a:t>
                </a:r>
                <a:r>
                  <a:rPr lang="vi-VN"/>
                  <a:t>thông qua một vòng lặp SRLR gồm bốn giai đoạn, được minh họa trong Hình 3. Chu trình tự cải thiện này được khởi tạo từ một ví dụ minh họa của chuyên gia và được thực hiện bởi chính planner dựa trên VLM.</a:t>
                </a:r>
                <a:endParaRPr lang="en-US" b="1"/>
              </a:p>
              <a:p>
                <a:r>
                  <a:rPr lang="vi-VN" b="1"/>
                  <a:t>4.2.1 SUMMARIZE</a:t>
                </a:r>
                <a:r>
                  <a:rPr lang="vi-VN"/>
                  <a:t> </a:t>
                </a:r>
              </a:p>
              <a:p>
                <a:r>
                  <a:rPr lang="vi-VN"/>
                  <a:t>Với một quỹ đạo minh họa duy nhất</a:t>
                </a:r>
                <a:br>
                  <a:rPr lang="vi-VN"/>
                </a:br>
                <a:r>
                  <a:rPr lang="ar-AE" sz="1200" i="0" kern="1200">
                    <a:solidFill>
                      <a:schemeClr val="tx1"/>
                    </a:solidFill>
                    <a:latin typeface="+mn-lt"/>
                    <a:ea typeface="+mn-ea"/>
                    <a:cs typeface="+mn-cs"/>
                  </a:rPr>
                  <a:t>𝑇^𝑑={(𝑠_𝑡^𝑑ⓜ,𝑎_𝑡^𝑑 )}_(𝑡=0)^(𝑇^𝑑 )</a:t>
                </a:r>
                <a:r>
                  <a:rPr lang="vi-VN"/>
                  <a:t>và mục tiêu tác vụ </a:t>
                </a:r>
                <a:r>
                  <a:rPr lang="vi-VN" sz="1200" i="0" kern="1200">
                    <a:solidFill>
                      <a:schemeClr val="tx1"/>
                    </a:solidFill>
                    <a:latin typeface="+mn-lt"/>
                    <a:ea typeface="+mn-ea"/>
                    <a:cs typeface="+mn-cs"/>
                  </a:rPr>
                  <a:t>𝑔</a:t>
                </a:r>
                <a:r>
                  <a:rPr lang="vi-VN"/>
                  <a:t>, </a:t>
                </a:r>
                <a:r>
                  <a:rPr lang="ar-AE" sz="1200" i="0" kern="1200">
                    <a:solidFill>
                      <a:schemeClr val="tx1"/>
                    </a:solidFill>
                    <a:latin typeface="+mn-lt"/>
                    <a:ea typeface="+mn-ea"/>
                    <a:cs typeface="+mn-cs"/>
                  </a:rPr>
                  <a:t>𝜋_𝐻</a:t>
                </a:r>
                <a:r>
                  <a:rPr lang="vi-VN"/>
                  <a:t>thực hiện một lần chắt lọc để tạo ra một cơ sở tri thức ban đầu có cấu trúc </a:t>
                </a:r>
                <a:r>
                  <a:rPr lang="ar-AE" sz="1200" i="0" kern="1200">
                    <a:solidFill>
                      <a:schemeClr val="tx1"/>
                    </a:solidFill>
                    <a:latin typeface="+mn-lt"/>
                    <a:ea typeface="+mn-ea"/>
                    <a:cs typeface="+mn-cs"/>
                  </a:rPr>
                  <a:t>𝐾_𝐺^0</a:t>
                </a:r>
                <a:r>
                  <a:rPr lang="ar-AE"/>
                  <a:t>(</a:t>
                </a:r>
                <a:r>
                  <a:rPr lang="vi-VN"/>
                  <a:t>Hình 3, góc trên bên trái):</a:t>
                </a:r>
              </a:p>
              <a:p>
                <a:r>
                  <a:rPr lang="ar-AE" sz="1200" i="0" kern="1200">
                    <a:solidFill>
                      <a:schemeClr val="tx1"/>
                    </a:solidFill>
                    <a:latin typeface="+mn-lt"/>
                    <a:ea typeface="+mn-ea"/>
                    <a:cs typeface="+mn-cs"/>
                  </a:rPr>
                  <a:t>𝐾_𝐺^0=</a:t>
                </a:r>
                <a:r>
                  <a:rPr lang="vi-VN" sz="1200" b="0" i="0" kern="1200">
                    <a:solidFill>
                      <a:schemeClr val="tx1"/>
                    </a:solidFill>
                    <a:latin typeface="Cambria Math" panose="02040503050406030204" pitchFamily="18" charset="0"/>
                    <a:ea typeface="+mn-ea"/>
                    <a:cs typeface="+mn-cs"/>
                  </a:rPr>
                  <a:t>"Summarize</a:t>
                </a:r>
                <a:r>
                  <a:rPr lang="ar-AE" sz="1200" b="0" i="0" kern="1200">
                    <a:solidFill>
                      <a:schemeClr val="tx1"/>
                    </a:solidFill>
                    <a:latin typeface="+mn-lt"/>
                    <a:ea typeface="+mn-ea"/>
                    <a:cs typeface="+mn-cs"/>
                  </a:rPr>
                  <a:t>" (𝑇^𝑑ⓜ,𝑔ⓜ,𝜃_𝐻 ).</a:t>
                </a:r>
                <a:endParaRPr lang="ar-AE" b="0"/>
              </a:p>
              <a:p>
                <a:r>
                  <a:rPr lang="vi-VN"/>
                  <a:t>Cơ sở tri thức này được biểu diễn dưới dạng một tập các quy tắc hoặc một danh sách các bước theo thứ tự, nắm bắt logic cốt lõi để hoàn thành tác vụ, các thành phần UI quan trọng và chức năng của chúng. Nó đóng vai trò là điểm khởi đầu cho các vòng lặp SRLR tiếp theo. </a:t>
                </a:r>
              </a:p>
              <a:p>
                <a:br>
                  <a:rPr lang="vi-VN"/>
                </a:br>
                <a:endParaRPr lang="vi-VN"/>
              </a:p>
              <a:p>
                <a:r>
                  <a:rPr lang="vi-VN" b="1"/>
                  <a:t>4.2.2 REFLECT</a:t>
                </a:r>
                <a:r>
                  <a:rPr lang="vi-VN"/>
                  <a:t> </a:t>
                </a:r>
              </a:p>
              <a:p>
                <a:r>
                  <a:rPr lang="vi-VN"/>
                  <a:t>Trong quá trình thực thi, module phản tư được kích hoạt sau khi hoàn thành một quỹ đạo mới </a:t>
                </a:r>
                <a:r>
                  <a:rPr lang="ar-AE" sz="1200" i="0" kern="1200">
                    <a:solidFill>
                      <a:schemeClr val="tx1"/>
                    </a:solidFill>
                    <a:latin typeface="+mn-lt"/>
                    <a:ea typeface="+mn-ea"/>
                    <a:cs typeface="+mn-cs"/>
                  </a:rPr>
                  <a:t>𝑇^𝑒</a:t>
                </a:r>
                <a:r>
                  <a:rPr lang="ar-AE"/>
                  <a:t>. </a:t>
                </a:r>
                <a:r>
                  <a:rPr lang="vi-VN"/>
                  <a:t>Phản tư hoạt động ở hai mức độ:</a:t>
                </a:r>
              </a:p>
              <a:p>
                <a:r>
                  <a:rPr lang="vi-VN" b="1"/>
                  <a:t>Cấp độ bước (Step-level):</a:t>
                </a:r>
                <a:r>
                  <a:rPr lang="vi-VN"/>
                  <a:t> Planner liên tục kiểm tra xem kết quả của mỗi hành động có phù hợp với kết quả mong đợi trong </a:t>
                </a:r>
                <a:r>
                  <a:rPr lang="vi-VN" sz="1200" i="0" kern="1200">
                    <a:solidFill>
                      <a:schemeClr val="tx1"/>
                    </a:solidFill>
                    <a:latin typeface="+mn-lt"/>
                    <a:ea typeface="+mn-ea"/>
                    <a:cs typeface="+mn-cs"/>
                  </a:rPr>
                  <a:t>𝐾𝐺</a:t>
                </a:r>
                <a:r>
                  <a:rPr lang="vi-VN"/>
                  <a:t>hay không. Điều này cho phép phát hiện ngay lập tức các sai lệch so với kế hoạch. </a:t>
                </a:r>
              </a:p>
              <a:p>
                <a:r>
                  <a:rPr lang="vi-VN" b="1"/>
                  <a:t>Cấp độ tác vụ (Task-level):</a:t>
                </a:r>
                <a:r>
                  <a:rPr lang="vi-VN"/>
                  <a:t> Nếu toàn bộ episode thất bại, phản tư ở cấp độ tác vụ sẽ phân tích toàn bộ quỹ đạo để tạo ra một giải thích có cấu trúc về nguyên nhân gốc rễ của lỗi, ví dụ như “không xác định được nút Rename”: </a:t>
                </a:r>
              </a:p>
              <a:p>
                <a:r>
                  <a:rPr lang="ar-AE" sz="1200" i="0" kern="1200">
                    <a:solidFill>
                      <a:schemeClr val="tx1"/>
                    </a:solidFill>
                    <a:latin typeface="+mn-lt"/>
                    <a:ea typeface="+mn-ea"/>
                    <a:cs typeface="+mn-cs"/>
                  </a:rPr>
                  <a:t>𝑀_𝑐𝑎𝑠𝑒=〖</a:t>
                </a:r>
                <a:r>
                  <a:rPr lang="vi-VN" sz="1200" b="0" i="0" kern="1200">
                    <a:solidFill>
                      <a:schemeClr val="tx1"/>
                    </a:solidFill>
                    <a:latin typeface="+mn-lt"/>
                    <a:ea typeface="+mn-ea"/>
                    <a:cs typeface="+mn-cs"/>
                  </a:rPr>
                  <a:t>"Reflect</a:t>
                </a:r>
                <a:r>
                  <a:rPr lang="ar-AE" sz="1200" b="0" i="0" kern="1200">
                    <a:solidFill>
                      <a:schemeClr val="tx1"/>
                    </a:solidFill>
                    <a:latin typeface="+mn-lt"/>
                    <a:ea typeface="+mn-ea"/>
                    <a:cs typeface="+mn-cs"/>
                  </a:rPr>
                  <a:t>" 〗_𝑡𝑎𝑠𝑘 (𝑇^𝑒ⓜ,𝐾ⓜ,𝐺ⓜ,𝑔𝜃_𝐻 ).</a:t>
                </a:r>
                <a:endParaRPr lang="ar-AE" b="0"/>
              </a:p>
              <a:p>
                <a:br>
                  <a:rPr lang="ar-AE"/>
                </a:br>
                <a:endParaRPr lang="ar-AE"/>
              </a:p>
              <a:p>
                <a:r>
                  <a:rPr lang="ar-AE" b="1"/>
                  <a:t>4.2.3 </a:t>
                </a:r>
                <a:r>
                  <a:rPr lang="vi-VN" b="1"/>
                  <a:t>LOCATE</a:t>
                </a:r>
                <a:r>
                  <a:rPr lang="vi-VN"/>
                  <a:t> </a:t>
                </a:r>
              </a:p>
              <a:p>
                <a:r>
                  <a:rPr lang="vi-VN"/>
                  <a:t>Để cho phép sửa đổi chính xác, module locate sẽ căn chỉnh quỹ đạo đã thực thi </a:t>
                </a:r>
                <a:r>
                  <a:rPr lang="ar-AE" sz="1200" i="0" kern="1200">
                    <a:solidFill>
                      <a:schemeClr val="tx1"/>
                    </a:solidFill>
                    <a:latin typeface="+mn-lt"/>
                    <a:ea typeface="+mn-ea"/>
                    <a:cs typeface="+mn-cs"/>
                  </a:rPr>
                  <a:t>𝑇^𝑒</a:t>
                </a:r>
                <a:r>
                  <a:rPr lang="vi-VN"/>
                  <a:t>với tri thức nhiệm vụ được mã hóa trong </a:t>
                </a:r>
                <a:r>
                  <a:rPr lang="vi-VN" sz="1200" i="0" kern="1200">
                    <a:solidFill>
                      <a:schemeClr val="tx1"/>
                    </a:solidFill>
                    <a:latin typeface="+mn-lt"/>
                    <a:ea typeface="+mn-ea"/>
                    <a:cs typeface="+mn-cs"/>
                  </a:rPr>
                  <a:t>𝐾𝐺</a:t>
                </a:r>
                <a:r>
                  <a:rPr lang="vi-VN"/>
                  <a:t>và xác định điểm quyết định đầu tiên dẫn đến kết quả không như mong đợi:</a:t>
                </a:r>
              </a:p>
              <a:p>
                <a:r>
                  <a:rPr lang="ar-AE" sz="1200" i="0" kern="1200">
                    <a:solidFill>
                      <a:schemeClr val="tx1"/>
                    </a:solidFill>
                    <a:latin typeface="+mn-lt"/>
                    <a:ea typeface="+mn-ea"/>
                    <a:cs typeface="+mn-cs"/>
                  </a:rPr>
                  <a:t>𝑡^∗=</a:t>
                </a:r>
                <a:r>
                  <a:rPr lang="vi-VN" sz="1200" b="0" i="0" kern="1200">
                    <a:solidFill>
                      <a:schemeClr val="tx1"/>
                    </a:solidFill>
                    <a:latin typeface="Cambria Math" panose="02040503050406030204" pitchFamily="18" charset="0"/>
                    <a:ea typeface="+mn-ea"/>
                    <a:cs typeface="+mn-cs"/>
                  </a:rPr>
                  <a:t>"Locate</a:t>
                </a:r>
                <a:r>
                  <a:rPr lang="ar-AE" sz="1200" b="0" i="0" kern="1200">
                    <a:solidFill>
                      <a:schemeClr val="tx1"/>
                    </a:solidFill>
                    <a:latin typeface="+mn-lt"/>
                    <a:ea typeface="+mn-ea"/>
                    <a:cs typeface="+mn-cs"/>
                  </a:rPr>
                  <a:t>" (𝑇^𝑒ⓜ,𝐾ⓜ,𝐺𝜃_𝐻 )=(</a:t>
                </a:r>
                <a:r>
                  <a:rPr lang="vi-VN" sz="1200" b="0" i="0" kern="1200">
                    <a:solidFill>
                      <a:schemeClr val="tx1"/>
                    </a:solidFill>
                    <a:latin typeface="+mn-lt"/>
                    <a:ea typeface="+mn-ea"/>
                    <a:cs typeface="+mn-cs"/>
                  </a:rPr>
                  <a:t>min</a:t>
                </a:r>
                <a:r>
                  <a:rPr lang="ar-AE" sz="1200" b="0" i="0" kern="1200">
                    <a:solidFill>
                      <a:schemeClr val="tx1"/>
                    </a:solidFill>
                    <a:latin typeface="+mn-lt"/>
                    <a:ea typeface="+mn-ea"/>
                    <a:cs typeface="+mn-cs"/>
                  </a:rPr>
                  <a:t>⁡ )┬𝑡 {</a:t>
                </a:r>
                <a:r>
                  <a:rPr lang="vi-VN" sz="1200" b="0" i="0" kern="1200">
                    <a:solidFill>
                      <a:schemeClr val="tx1"/>
                    </a:solidFill>
                    <a:latin typeface="+mn-lt"/>
                    <a:ea typeface="+mn-ea"/>
                    <a:cs typeface="+mn-cs"/>
                  </a:rPr>
                  <a:t>"Verify</a:t>
                </a:r>
                <a:r>
                  <a:rPr lang="ar-AE" sz="1200" b="0" i="0" kern="1200">
                    <a:solidFill>
                      <a:schemeClr val="tx1"/>
                    </a:solidFill>
                    <a:latin typeface="+mn-lt"/>
                    <a:ea typeface="+mn-ea"/>
                    <a:cs typeface="+mn-cs"/>
                  </a:rPr>
                  <a:t>" (𝑠_(𝑡+1)^𝑒ⓜ,𝑎_𝑡^𝑒ⓜ,𝐾ⓜ,𝐺ⓜ,𝑡𝜃_𝐻 )=</a:t>
                </a:r>
                <a:r>
                  <a:rPr lang="vi-VN" sz="1200" b="0" i="0" kern="1200">
                    <a:solidFill>
                      <a:schemeClr val="tx1"/>
                    </a:solidFill>
                    <a:latin typeface="+mn-lt"/>
                    <a:ea typeface="+mn-ea"/>
                    <a:cs typeface="+mn-cs"/>
                  </a:rPr>
                  <a:t>"False</a:t>
                </a:r>
                <a:r>
                  <a:rPr lang="ar-AE" sz="1200" b="0" i="0" kern="1200">
                    <a:solidFill>
                      <a:schemeClr val="tx1"/>
                    </a:solidFill>
                    <a:latin typeface="+mn-lt"/>
                    <a:ea typeface="+mn-ea"/>
                    <a:cs typeface="+mn-cs"/>
                  </a:rPr>
                  <a:t>" }.</a:t>
                </a:r>
                <a:endParaRPr lang="ar-AE" b="0"/>
              </a:p>
              <a:p>
                <a:r>
                  <a:rPr lang="vi-VN"/>
                  <a:t>Trong đó, </a:t>
                </a:r>
                <a:r>
                  <a:rPr lang="vi-VN" b="0" i="0">
                    <a:latin typeface="Cambria Math" panose="02040503050406030204" pitchFamily="18" charset="0"/>
                  </a:rPr>
                  <a:t>"Verify</a:t>
                </a:r>
                <a:r>
                  <a:rPr lang="ar-AE" sz="1200" b="0" i="0" kern="1200">
                    <a:solidFill>
                      <a:schemeClr val="tx1"/>
                    </a:solidFill>
                    <a:latin typeface="+mn-lt"/>
                    <a:ea typeface="+mn-ea"/>
                    <a:cs typeface="+mn-cs"/>
                  </a:rPr>
                  <a:t>" (⋅)∈{𝑇ⓜ,𝑟𝑢𝑒𝐹𝑎𝑙𝑠𝑒}</a:t>
                </a:r>
                <a:r>
                  <a:rPr lang="vi-VN"/>
                  <a:t>kiểm tra xem việc thực hiện hành động </a:t>
                </a:r>
                <a:r>
                  <a:rPr lang="ar-AE" sz="1200" i="0" kern="1200">
                    <a:solidFill>
                      <a:schemeClr val="tx1"/>
                    </a:solidFill>
                    <a:latin typeface="+mn-lt"/>
                    <a:ea typeface="+mn-ea"/>
                    <a:cs typeface="+mn-cs"/>
                  </a:rPr>
                  <a:t>𝑎_𝑡^𝑒</a:t>
                </a:r>
                <a:r>
                  <a:rPr lang="vi-VN"/>
                  <a:t>tại trạng thái </a:t>
                </a:r>
                <a:r>
                  <a:rPr lang="ar-AE" sz="1200" i="0" kern="1200">
                    <a:solidFill>
                      <a:schemeClr val="tx1"/>
                    </a:solidFill>
                    <a:latin typeface="+mn-lt"/>
                    <a:ea typeface="+mn-ea"/>
                    <a:cs typeface="+mn-cs"/>
                  </a:rPr>
                  <a:t>𝑠_𝑡^𝑒</a:t>
                </a:r>
                <a:r>
                  <a:rPr lang="vi-VN"/>
                  <a:t>có tạo ra trạng thái tiếp theo </a:t>
                </a:r>
                <a:r>
                  <a:rPr lang="ar-AE" sz="1200" i="0" kern="1200">
                    <a:solidFill>
                      <a:schemeClr val="tx1"/>
                    </a:solidFill>
                    <a:latin typeface="+mn-lt"/>
                    <a:ea typeface="+mn-ea"/>
                    <a:cs typeface="+mn-cs"/>
                  </a:rPr>
                  <a:t>𝑠_(𝑡+1)^𝑒</a:t>
                </a:r>
                <a:r>
                  <a:rPr lang="vi-VN"/>
                  <a:t>phù hợp với kết quả mong đợi tại bước quan trọng </a:t>
                </a:r>
                <a:r>
                  <a:rPr lang="vi-VN" sz="1200" i="0" kern="1200">
                    <a:solidFill>
                      <a:schemeClr val="tx1"/>
                    </a:solidFill>
                    <a:latin typeface="+mn-lt"/>
                    <a:ea typeface="+mn-ea"/>
                    <a:cs typeface="+mn-cs"/>
                  </a:rPr>
                  <a:t>𝑡</a:t>
                </a:r>
                <a:r>
                  <a:rPr lang="vi-VN"/>
                  <a:t>được mô tả trong </a:t>
                </a:r>
                <a:r>
                  <a:rPr lang="vi-VN" sz="1200" i="0" kern="1200">
                    <a:solidFill>
                      <a:schemeClr val="tx1"/>
                    </a:solidFill>
                    <a:latin typeface="+mn-lt"/>
                    <a:ea typeface="+mn-ea"/>
                    <a:cs typeface="+mn-cs"/>
                  </a:rPr>
                  <a:t>𝐾𝐺</a:t>
                </a:r>
                <a:r>
                  <a:rPr lang="vi-VN"/>
                  <a:t>hay không. </a:t>
                </a:r>
              </a:p>
              <a:p>
                <a:br>
                  <a:rPr lang="vi-VN"/>
                </a:br>
                <a:endParaRPr lang="vi-VN"/>
              </a:p>
              <a:p>
                <a:r>
                  <a:rPr lang="vi-VN" b="1"/>
                  <a:t>4.2.4 REVISE</a:t>
                </a:r>
                <a:r>
                  <a:rPr lang="vi-VN"/>
                  <a:t> </a:t>
                </a:r>
              </a:p>
              <a:p>
                <a:r>
                  <a:rPr lang="vi-VN"/>
                  <a:t>Cuối cùng, dựa trên giải thích lỗi </a:t>
                </a:r>
                <a:r>
                  <a:rPr lang="ar-AE" sz="1200" i="0" kern="1200">
                    <a:solidFill>
                      <a:schemeClr val="tx1"/>
                    </a:solidFill>
                    <a:latin typeface="+mn-lt"/>
                    <a:ea typeface="+mn-ea"/>
                    <a:cs typeface="+mn-cs"/>
                  </a:rPr>
                  <a:t>𝑀_𝑐𝑎𝑠𝑒</a:t>
                </a:r>
                <a:r>
                  <a:rPr lang="vi-VN"/>
                  <a:t>và điểm lỗi </a:t>
                </a:r>
                <a:r>
                  <a:rPr lang="ar-AE" sz="1200" i="0" kern="1200">
                    <a:solidFill>
                      <a:schemeClr val="tx1"/>
                    </a:solidFill>
                    <a:latin typeface="+mn-lt"/>
                    <a:ea typeface="+mn-ea"/>
                    <a:cs typeface="+mn-cs"/>
                  </a:rPr>
                  <a:t>(𝑡^∗ⓜ,𝑠_(𝑡^∗)^𝑒 )</a:t>
                </a:r>
                <a:r>
                  <a:rPr lang="ar-AE"/>
                  <a:t>, </a:t>
                </a:r>
                <a:r>
                  <a:rPr lang="vi-VN"/>
                  <a:t>hệ thống thực hiện các chỉnh sửa cục bộ trên </a:t>
                </a:r>
                <a:r>
                  <a:rPr lang="vi-VN" sz="1200" i="0" kern="1200">
                    <a:solidFill>
                      <a:schemeClr val="tx1"/>
                    </a:solidFill>
                    <a:latin typeface="+mn-lt"/>
                    <a:ea typeface="+mn-ea"/>
                    <a:cs typeface="+mn-cs"/>
                  </a:rPr>
                  <a:t>𝐾𝐺</a:t>
                </a:r>
                <a:r>
                  <a:rPr lang="vi-VN"/>
                  <a:t>thông qua bốn phép toán nguyên tử:</a:t>
                </a:r>
              </a:p>
              <a:p>
                <a:r>
                  <a:rPr lang="vi-VN" b="1"/>
                  <a:t>Add</a:t>
                </a:r>
                <a:r>
                  <a:rPr lang="vi-VN"/>
                  <a:t>: thêm các bước còn thiếu </a:t>
                </a:r>
              </a:p>
              <a:p>
                <a:r>
                  <a:rPr lang="vi-VN" b="1"/>
                  <a:t>Delete</a:t>
                </a:r>
                <a:r>
                  <a:rPr lang="vi-VN"/>
                  <a:t>: loại bỏ các hướng dẫn sai </a:t>
                </a:r>
              </a:p>
              <a:p>
                <a:r>
                  <a:rPr lang="vi-VN" b="1"/>
                  <a:t>Update</a:t>
                </a:r>
                <a:r>
                  <a:rPr lang="vi-VN"/>
                  <a:t>: chỉnh sửa các hướng dẫn hiện có </a:t>
                </a:r>
              </a:p>
              <a:p>
                <a:r>
                  <a:rPr lang="vi-VN" b="1"/>
                  <a:t>Highlight</a:t>
                </a:r>
                <a:r>
                  <a:rPr lang="vi-VN"/>
                  <a:t>: nhấn mạnh các ràng buộc quan trọng </a:t>
                </a:r>
              </a:p>
              <a:p>
                <a:r>
                  <a:rPr lang="vi-VN"/>
                  <a:t>Các thao tác này tạo ra một phiên bản tri thức đã được sửa đổi </a:t>
                </a:r>
                <a:r>
                  <a:rPr lang="ar-AE" sz="1200" i="0" kern="1200">
                    <a:solidFill>
                      <a:schemeClr val="tx1"/>
                    </a:solidFill>
                    <a:latin typeface="+mn-lt"/>
                    <a:ea typeface="+mn-ea"/>
                    <a:cs typeface="+mn-cs"/>
                  </a:rPr>
                  <a:t>𝐾_𝐺^′</a:t>
                </a:r>
                <a:r>
                  <a:rPr lang="ar-AE"/>
                  <a:t>:</a:t>
                </a:r>
              </a:p>
              <a:p>
                <a:r>
                  <a:rPr lang="ar-AE" sz="1200" i="0" kern="1200">
                    <a:solidFill>
                      <a:schemeClr val="tx1"/>
                    </a:solidFill>
                    <a:latin typeface="+mn-lt"/>
                    <a:ea typeface="+mn-ea"/>
                    <a:cs typeface="+mn-cs"/>
                  </a:rPr>
                  <a:t>𝐾_𝐺^′=</a:t>
                </a:r>
                <a:r>
                  <a:rPr lang="vi-VN" sz="1200" b="0" i="0" kern="1200">
                    <a:solidFill>
                      <a:schemeClr val="tx1"/>
                    </a:solidFill>
                    <a:latin typeface="Cambria Math" panose="02040503050406030204" pitchFamily="18" charset="0"/>
                    <a:ea typeface="+mn-ea"/>
                    <a:cs typeface="+mn-cs"/>
                  </a:rPr>
                  <a:t>"Revise</a:t>
                </a:r>
                <a:r>
                  <a:rPr lang="ar-AE" sz="1200" b="0" i="0" kern="1200">
                    <a:solidFill>
                      <a:schemeClr val="tx1"/>
                    </a:solidFill>
                    <a:latin typeface="+mn-lt"/>
                    <a:ea typeface="+mn-ea"/>
                    <a:cs typeface="+mn-cs"/>
                  </a:rPr>
                  <a:t>" (𝐾ⓜ,𝐺ⓜ,(𝑡^∗ⓜ,𝑠_(𝑡^∗)^𝑒 )ⓜ,𝑀_𝑐𝑎𝑠𝑒 𝜃_𝐻 ).</a:t>
                </a:r>
                <a:endParaRPr lang="ar-AE" b="0"/>
              </a:p>
              <a:p>
                <a:r>
                  <a:rPr lang="vi-VN"/>
                  <a:t>Bằng cách lặp lại vòng lặp SRLR, </a:t>
                </a:r>
                <a:r>
                  <a:rPr lang="vi-VN" sz="1200" i="0" kern="1200">
                    <a:solidFill>
                      <a:schemeClr val="tx1"/>
                    </a:solidFill>
                    <a:latin typeface="+mn-lt"/>
                    <a:ea typeface="+mn-ea"/>
                    <a:cs typeface="+mn-cs"/>
                  </a:rPr>
                  <a:t>𝐾𝐺</a:t>
                </a:r>
                <a:r>
                  <a:rPr lang="vi-VN"/>
                  <a:t>được cải thiện dần theo thời gian, giúp nâng cao chất lượng lập kế hoạch</a:t>
                </a:r>
              </a:p>
            </p:txBody>
          </p:sp>
        </mc:Fallback>
      </mc:AlternateContent>
      <p:sp>
        <p:nvSpPr>
          <p:cNvPr id="4" name="Slide Number Placeholder 3">
            <a:extLst>
              <a:ext uri="{FF2B5EF4-FFF2-40B4-BE49-F238E27FC236}">
                <a16:creationId xmlns:a16="http://schemas.microsoft.com/office/drawing/2014/main" id="{C80AEB08-7B09-927B-042A-D800DB557F40}"/>
              </a:ext>
            </a:extLst>
          </p:cNvPr>
          <p:cNvSpPr>
            <a:spLocks noGrp="1"/>
          </p:cNvSpPr>
          <p:nvPr>
            <p:ph type="sldNum" sz="quarter" idx="5"/>
          </p:nvPr>
        </p:nvSpPr>
        <p:spPr/>
        <p:txBody>
          <a:bodyPr/>
          <a:lstStyle/>
          <a:p>
            <a:fld id="{37C79A95-A3A4-4360-A42D-7FE47A333A7F}" type="slidenum">
              <a:rPr lang="en-US" smtClean="0"/>
              <a:t>3</a:t>
            </a:fld>
            <a:endParaRPr lang="en-US"/>
          </a:p>
        </p:txBody>
      </p:sp>
    </p:spTree>
    <p:extLst>
      <p:ext uri="{BB962C8B-B14F-4D97-AF65-F5344CB8AC3E}">
        <p14:creationId xmlns:p14="http://schemas.microsoft.com/office/powerpoint/2010/main" val="1180340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7372C-1B5D-4805-DEA9-18B598B48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0625F-B751-5045-13BC-B01A5C0E8496}"/>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C9FEFC27-DFB2-4571-9E95-264E18E81826}"/>
                  </a:ext>
                </a:extLst>
              </p:cNvPr>
              <p:cNvSpPr>
                <a:spLocks noGrp="1"/>
              </p:cNvSpPr>
              <p:nvPr>
                <p:ph type="body" idx="1"/>
              </p:nvPr>
            </p:nvSpPr>
            <p:spPr/>
            <p:txBody>
              <a:bodyPr/>
              <a:lstStyle/>
              <a:p>
                <a:r>
                  <a:rPr lang="vi-VN"/>
                  <a:t>Việc huấn luyện bộ thực thi cấp thấp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𝜋</m:t>
                        </m:r>
                      </m:e>
                      <m:sub>
                        <m:r>
                          <a:rPr lang="ar-AE" sz="1200" i="1" kern="1200">
                            <a:solidFill>
                              <a:schemeClr val="tx1"/>
                            </a:solidFill>
                            <a:latin typeface="Cambria Math" panose="02040503050406030204" pitchFamily="18" charset="0"/>
                            <a:ea typeface="+mn-ea"/>
                            <a:cs typeface="+mn-cs"/>
                          </a:rPr>
                          <m:t>𝐿</m:t>
                        </m:r>
                      </m:sub>
                    </m:sSub>
                  </m:oMath>
                </a14:m>
                <a:r>
                  <a:rPr lang="vi-VN"/>
                  <a:t>đối mặt với hai thách thức:</a:t>
                </a:r>
                <a:br>
                  <a:rPr lang="vi-VN"/>
                </a:br>
                <a:r>
                  <a:rPr lang="vi-VN"/>
                  <a:t>(i) </a:t>
                </a:r>
                <a:r>
                  <a:rPr lang="vi-VN" b="1"/>
                  <a:t>Mất cân bằng mẫu (Sample Imbalance):</a:t>
                </a:r>
                <a:r>
                  <a:rPr lang="vi-VN"/>
                  <a:t> Dữ liệu huấn luyện thường bị lệch, trong đó các thao tác phổ biến (ví dụ: click) xuất hiện nhiều hơn đáng kể so với các thao tác hiếm (ví dụ: long-press, swipe).</a:t>
                </a:r>
                <a:br>
                  <a:rPr lang="vi-VN"/>
                </a:br>
                <a:r>
                  <a:rPr lang="vi-VN"/>
                  <a:t>(ii) </a:t>
                </a:r>
                <a:r>
                  <a:rPr lang="vi-VN" b="1"/>
                  <a:t>Khám phá kém hiệu quả (Inefficient Exploration):</a:t>
                </a:r>
                <a:r>
                  <a:rPr lang="vi-VN"/>
                  <a:t> Trong các tác vụ dài, không gian hành động rất lớn khiến agent khó tự tìm ra các quỹ đạo thành công thông qua thử-sai.</a:t>
                </a:r>
                <a:endParaRPr lang="en-US"/>
              </a:p>
              <a:p>
                <a:endParaRPr lang="en-US"/>
              </a:p>
              <a:p>
                <a:r>
                  <a:rPr lang="vi-VN" b="1"/>
                  <a:t>CÂN BẰNG REPLAY THEO LỖI (ERROR-DECOUPLED REPLAY BALANCING)</a:t>
                </a:r>
                <a:r>
                  <a:rPr lang="vi-VN"/>
                  <a:t> </a:t>
                </a:r>
              </a:p>
              <a:p>
                <a:r>
                  <a:rPr lang="vi-VN"/>
                  <a:t>Chúng tôi nhận thấy lỗi thực thi ở mức hành động có thể tách thành hai loại:</a:t>
                </a:r>
              </a:p>
              <a:p>
                <a:r>
                  <a:rPr lang="vi-VN" b="1"/>
                  <a:t>Lỗi loại hành động (type errors):</a:t>
                </a:r>
                <a:r>
                  <a:rPr lang="vi-VN"/>
                  <a:t> ví dụ dự đoán swipe thay vì click </a:t>
                </a:r>
              </a:p>
              <a:p>
                <a:r>
                  <a:rPr lang="vi-VN" b="1"/>
                  <a:t>Lỗi tham số (parameter errors):</a:t>
                </a:r>
                <a:r>
                  <a:rPr lang="vi-VN"/>
                  <a:t> ví dụ click đúng loại nhưng sai tọa độ </a:t>
                </a:r>
              </a:p>
              <a:p>
                <a:r>
                  <a:rPr lang="vi-VN"/>
                  <a:t>Với mỗi đầu vào huấn luyện </a:t>
                </a:r>
                <a14:m>
                  <m:oMath xmlns:m="http://schemas.openxmlformats.org/officeDocument/2006/math">
                    <m:r>
                      <a:rPr lang="vi-VN" sz="1200" i="1" kern="1200">
                        <a:solidFill>
                          <a:schemeClr val="tx1"/>
                        </a:solidFill>
                        <a:latin typeface="+mn-lt"/>
                        <a:ea typeface="+mn-ea"/>
                        <a:cs typeface="+mn-cs"/>
                      </a:rPr>
                      <m:t>𝑖</m:t>
                    </m:r>
                  </m:oMath>
                </a14:m>
                <a:r>
                  <a:rPr lang="vi-VN"/>
                  <a:t>, mô hình cấp thấp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𝜋</m:t>
                        </m:r>
                      </m:e>
                      <m:sub>
                        <m:r>
                          <a:rPr lang="ar-AE" sz="1200" i="1" kern="1200">
                            <a:solidFill>
                              <a:schemeClr val="tx1"/>
                            </a:solidFill>
                            <a:latin typeface="+mn-lt"/>
                            <a:ea typeface="+mn-ea"/>
                            <a:cs typeface="+mn-cs"/>
                          </a:rPr>
                          <m:t>𝐿</m:t>
                        </m:r>
                      </m:sub>
                    </m:sSub>
                  </m:oMath>
                </a14:m>
                <a:r>
                  <a:rPr lang="vi-VN"/>
                  <a:t>sinh ra </a:t>
                </a:r>
                <a14:m>
                  <m:oMath xmlns:m="http://schemas.openxmlformats.org/officeDocument/2006/math">
                    <m:r>
                      <a:rPr lang="vi-VN" sz="1200" i="1" kern="1200">
                        <a:solidFill>
                          <a:schemeClr val="tx1"/>
                        </a:solidFill>
                        <a:latin typeface="+mn-lt"/>
                        <a:ea typeface="+mn-ea"/>
                        <a:cs typeface="+mn-cs"/>
                      </a:rPr>
                      <m:t>𝐺</m:t>
                    </m:r>
                  </m:oMath>
                </a14:m>
                <a:r>
                  <a:rPr lang="vi-VN"/>
                  <a:t>hành động ứng viên </a:t>
                </a:r>
                <a14:m>
                  <m:oMath xmlns:m="http://schemas.openxmlformats.org/officeDocument/2006/math">
                    <m:sSubSup>
                      <m:sSubSupPr>
                        <m:ctrlPr>
                          <a:rPr lang="ar-AE" sz="1200" kern="1200">
                            <a:solidFill>
                              <a:schemeClr val="tx1"/>
                            </a:solidFill>
                            <a:latin typeface="+mn-lt"/>
                            <a:ea typeface="+mn-ea"/>
                            <a:cs typeface="+mn-cs"/>
                          </a:rPr>
                        </m:ctrlPr>
                      </m:sSubSupPr>
                      <m:e>
                        <m:d>
                          <m:dPr>
                            <m:begChr m:val="{"/>
                            <m:endChr m:val="}"/>
                            <m:ctrlPr>
                              <a:rPr lang="ar-AE" sz="1200" kern="1200">
                                <a:solidFill>
                                  <a:schemeClr val="tx1"/>
                                </a:solidFill>
                                <a:latin typeface="+mn-lt"/>
                                <a:ea typeface="+mn-ea"/>
                                <a:cs typeface="+mn-cs"/>
                              </a:rPr>
                            </m:ctrlPr>
                          </m:dPr>
                          <m:e>
                            <m:sSubSup>
                              <m:sSubSupPr>
                                <m:ctrlPr>
                                  <a:rPr lang="ar-AE" sz="1200" i="1" kern="1200">
                                    <a:solidFill>
                                      <a:schemeClr val="tx1"/>
                                    </a:solidFill>
                                    <a:latin typeface="+mn-lt"/>
                                    <a:ea typeface="+mn-ea"/>
                                    <a:cs typeface="+mn-cs"/>
                                  </a:rPr>
                                </m:ctrlPr>
                              </m:sSubSupPr>
                              <m:e>
                                <m:r>
                                  <a:rPr lang="ar-AE" sz="1200" i="1" kern="1200">
                                    <a:solidFill>
                                      <a:schemeClr val="tx1"/>
                                    </a:solidFill>
                                    <a:latin typeface="+mn-lt"/>
                                    <a:ea typeface="+mn-ea"/>
                                    <a:cs typeface="+mn-cs"/>
                                  </a:rPr>
                                  <m:t>𝑎</m:t>
                                </m:r>
                              </m:e>
                              <m:sub>
                                <m:r>
                                  <a:rPr lang="ar-AE" sz="1200" i="1" kern="1200">
                                    <a:solidFill>
                                      <a:schemeClr val="tx1"/>
                                    </a:solidFill>
                                    <a:latin typeface="+mn-lt"/>
                                    <a:ea typeface="+mn-ea"/>
                                    <a:cs typeface="+mn-cs"/>
                                  </a:rPr>
                                  <m:t>𝑖</m:t>
                                </m:r>
                              </m:sub>
                              <m:sup>
                                <m:d>
                                  <m:dPr>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𝑔</m:t>
                                    </m:r>
                                  </m:e>
                                </m:d>
                              </m:sup>
                            </m:sSubSup>
                          </m:e>
                        </m:d>
                      </m:e>
                      <m:sub>
                        <m:r>
                          <a:rPr lang="ar-AE" sz="1200" i="1" kern="1200">
                            <a:solidFill>
                              <a:schemeClr val="tx1"/>
                            </a:solidFill>
                            <a:latin typeface="+mn-lt"/>
                            <a:ea typeface="+mn-ea"/>
                            <a:cs typeface="+mn-cs"/>
                          </a:rPr>
                          <m:t>𝑔</m:t>
                        </m:r>
                        <m:r>
                          <a:rPr lang="ar-AE" sz="1200" i="0" kern="1200">
                            <a:solidFill>
                              <a:schemeClr val="tx1"/>
                            </a:solidFill>
                            <a:latin typeface="+mn-lt"/>
                            <a:ea typeface="+mn-ea"/>
                            <a:cs typeface="+mn-cs"/>
                          </a:rPr>
                          <m:t>=</m:t>
                        </m:r>
                        <m:r>
                          <a:rPr lang="ar-AE" sz="1200" i="0" kern="1200">
                            <a:solidFill>
                              <a:schemeClr val="tx1"/>
                            </a:solidFill>
                            <a:latin typeface="+mn-lt"/>
                            <a:ea typeface="+mn-ea"/>
                            <a:cs typeface="+mn-cs"/>
                          </a:rPr>
                          <m:t>1</m:t>
                        </m:r>
                      </m:sub>
                      <m:sup>
                        <m:r>
                          <a:rPr lang="ar-AE" sz="1200" i="1" kern="1200">
                            <a:solidFill>
                              <a:schemeClr val="tx1"/>
                            </a:solidFill>
                            <a:latin typeface="+mn-lt"/>
                            <a:ea typeface="+mn-ea"/>
                            <a:cs typeface="+mn-cs"/>
                          </a:rPr>
                          <m:t>𝐺</m:t>
                        </m:r>
                      </m:sup>
                    </m:sSubSup>
                  </m:oMath>
                </a14:m>
                <a:r>
                  <a:rPr lang="ar-AE"/>
                  <a:t>. </a:t>
                </a:r>
                <a:r>
                  <a:rPr lang="vi-VN"/>
                  <a:t>Với hành động chuẩn </a:t>
                </a:r>
                <a14:m>
                  <m:oMath xmlns:m="http://schemas.openxmlformats.org/officeDocument/2006/math">
                    <m:sSub>
                      <m:sSubPr>
                        <m:ctrlPr>
                          <a:rPr lang="ar-AE" sz="1200" kern="1200">
                            <a:solidFill>
                              <a:schemeClr val="tx1"/>
                            </a:solidFill>
                            <a:latin typeface="+mn-lt"/>
                            <a:ea typeface="+mn-ea"/>
                            <a:cs typeface="+mn-cs"/>
                          </a:rPr>
                        </m:ctrlPr>
                      </m:sSubPr>
                      <m:e>
                        <m:acc>
                          <m:accPr>
                            <m:chr m:val="̂"/>
                            <m:ctrlPr>
                              <a:rPr lang="ar-AE" sz="1200" kern="1200">
                                <a:solidFill>
                                  <a:schemeClr val="tx1"/>
                                </a:solidFill>
                                <a:latin typeface="+mn-lt"/>
                                <a:ea typeface="+mn-ea"/>
                                <a:cs typeface="+mn-cs"/>
                              </a:rPr>
                            </m:ctrlPr>
                          </m:accPr>
                          <m:e>
                            <m:r>
                              <a:rPr lang="ar-AE" sz="1200" i="1" kern="1200">
                                <a:solidFill>
                                  <a:schemeClr val="tx1"/>
                                </a:solidFill>
                                <a:latin typeface="+mn-lt"/>
                                <a:ea typeface="+mn-ea"/>
                                <a:cs typeface="+mn-cs"/>
                              </a:rPr>
                              <m:t>𝑎</m:t>
                            </m:r>
                          </m:e>
                        </m:acc>
                      </m:e>
                      <m:sub>
                        <m:r>
                          <a:rPr lang="ar-AE" sz="1200" i="1" kern="1200">
                            <a:solidFill>
                              <a:schemeClr val="tx1"/>
                            </a:solidFill>
                            <a:latin typeface="+mn-lt"/>
                            <a:ea typeface="+mn-ea"/>
                            <a:cs typeface="+mn-cs"/>
                          </a:rPr>
                          <m:t>𝑖</m:t>
                        </m:r>
                      </m:sub>
                    </m:sSub>
                  </m:oMath>
                </a14:m>
                <a:r>
                  <a:rPr lang="ar-AE"/>
                  <a:t>, </a:t>
                </a:r>
                <a:r>
                  <a:rPr lang="vi-VN"/>
                  <a:t>ta định nghĩa phần thưởng nhị phân</a:t>
                </a:r>
                <a:r>
                  <a:rPr lang="en-US" baseline="0"/>
                  <a:t> công thức 5</a:t>
                </a:r>
                <a:endParaRPr lang="vi-VN"/>
              </a:p>
              <a:p>
                <a:r>
                  <a:rPr lang="vi-VN"/>
                  <a:t>trong đó:</a:t>
                </a:r>
              </a:p>
              <a:p>
                <a14:m>
                  <m:oMath xmlns:m="http://schemas.openxmlformats.org/officeDocument/2006/math">
                    <m:r>
                      <m:rPr>
                        <m:nor/>
                      </m:rPr>
                      <a:rPr lang="vi-VN" b="0"/>
                      <m:t>type</m:t>
                    </m:r>
                    <m:d>
                      <m:dPr>
                        <m:ctrlPr>
                          <a:rPr lang="ar-AE" sz="1200" b="0" i="1" kern="1200">
                            <a:solidFill>
                              <a:schemeClr val="tx1"/>
                            </a:solidFill>
                            <a:latin typeface="+mn-lt"/>
                            <a:ea typeface="+mn-ea"/>
                            <a:cs typeface="+mn-cs"/>
                          </a:rPr>
                        </m:ctrlPr>
                      </m:dPr>
                      <m:e>
                        <m:r>
                          <a:rPr lang="ar-AE" sz="1200" b="0" i="0" kern="1200">
                            <a:solidFill>
                              <a:schemeClr val="tx1"/>
                            </a:solidFill>
                            <a:latin typeface="+mn-lt"/>
                            <a:ea typeface="+mn-ea"/>
                            <a:cs typeface="+mn-cs"/>
                          </a:rPr>
                          <m:t>⋅</m:t>
                        </m:r>
                      </m:e>
                    </m:d>
                  </m:oMath>
                </a14:m>
                <a:r>
                  <a:rPr lang="vi-VN"/>
                  <a:t>là loại hành động (click, swipe, …) </a:t>
                </a:r>
              </a:p>
              <a:p>
                <a14:m>
                  <m:oMath xmlns:m="http://schemas.openxmlformats.org/officeDocument/2006/math">
                    <m:r>
                      <m:rPr>
                        <m:nor/>
                      </m:rPr>
                      <a:rPr lang="vi-VN" b="0"/>
                      <m:t>coord</m:t>
                    </m:r>
                    <m:d>
                      <m:dPr>
                        <m:ctrlPr>
                          <a:rPr lang="ar-AE" sz="1200" b="0" i="1" kern="1200">
                            <a:solidFill>
                              <a:schemeClr val="tx1"/>
                            </a:solidFill>
                            <a:latin typeface="+mn-lt"/>
                            <a:ea typeface="+mn-ea"/>
                            <a:cs typeface="+mn-cs"/>
                          </a:rPr>
                        </m:ctrlPr>
                      </m:dPr>
                      <m:e>
                        <m:r>
                          <a:rPr lang="ar-AE" sz="1200" b="0" i="0" kern="1200">
                            <a:solidFill>
                              <a:schemeClr val="tx1"/>
                            </a:solidFill>
                            <a:latin typeface="+mn-lt"/>
                            <a:ea typeface="+mn-ea"/>
                            <a:cs typeface="+mn-cs"/>
                          </a:rPr>
                          <m:t>⋅</m:t>
                        </m:r>
                      </m:e>
                    </m:d>
                  </m:oMath>
                </a14:m>
                <a:r>
                  <a:rPr lang="vi-VN"/>
                  <a:t>là tham số tọa độ </a:t>
                </a:r>
              </a:p>
              <a:p>
                <a:r>
                  <a:rPr lang="vi-VN"/>
                  <a:t>Từ đó, ta ước lượng hai tỷ lệ lỗi cho mỗi mẫu </a:t>
                </a:r>
                <a14:m>
                  <m:oMath xmlns:m="http://schemas.openxmlformats.org/officeDocument/2006/math">
                    <m:r>
                      <a:rPr lang="vi-VN" sz="1200" i="1" kern="1200">
                        <a:solidFill>
                          <a:schemeClr val="tx1"/>
                        </a:solidFill>
                        <a:latin typeface="+mn-lt"/>
                        <a:ea typeface="+mn-ea"/>
                        <a:cs typeface="+mn-cs"/>
                      </a:rPr>
                      <m:t>𝑖</m:t>
                    </m:r>
                    <m:r>
                      <a:rPr lang="en-US" sz="1200" b="0" i="0" kern="1200" smtClean="0">
                        <a:solidFill>
                          <a:schemeClr val="tx1"/>
                        </a:solidFill>
                        <a:latin typeface="Cambria Math" panose="02040503050406030204" pitchFamily="18" charset="0"/>
                        <a:ea typeface="+mn-ea"/>
                        <a:cs typeface="+mn-cs"/>
                      </a:rPr>
                      <m:t> </m:t>
                    </m:r>
                  </m:oMath>
                </a14:m>
                <a:endParaRPr lang="vi-VN"/>
              </a:p>
              <a:p>
                <a:r>
                  <a:rPr lang="vi-VN"/>
                  <a:t>Dựa trên hai giá trị này, mỗi mẫu được phân vào một trong ba bộ nhớ replay:</a:t>
                </a:r>
              </a:p>
              <a:p>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𝐷</m:t>
                        </m:r>
                      </m:e>
                      <m:sub>
                        <m:r>
                          <a:rPr lang="ar-AE" sz="1200" i="1" kern="1200">
                            <a:solidFill>
                              <a:schemeClr val="tx1"/>
                            </a:solidFill>
                            <a:latin typeface="+mn-lt"/>
                            <a:ea typeface="+mn-ea"/>
                            <a:cs typeface="+mn-cs"/>
                          </a:rPr>
                          <m:t>𝑐𝑜𝑛</m:t>
                        </m:r>
                      </m:sub>
                    </m:sSub>
                  </m:oMath>
                </a14:m>
                <a:r>
                  <a:rPr lang="ar-AE" b="1"/>
                  <a:t>:</a:t>
                </a:r>
                <a:r>
                  <a:rPr lang="ar-AE"/>
                  <a:t> </a:t>
                </a:r>
                <a:r>
                  <a:rPr lang="vi-VN"/>
                  <a:t>dữ liệu thông thường </a:t>
                </a:r>
              </a:p>
              <a:p>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𝐷</m:t>
                        </m:r>
                      </m:e>
                      <m:sub>
                        <m:r>
                          <a:rPr lang="ar-AE" sz="1200" i="1" kern="1200">
                            <a:solidFill>
                              <a:schemeClr val="tx1"/>
                            </a:solidFill>
                            <a:latin typeface="+mn-lt"/>
                            <a:ea typeface="+mn-ea"/>
                            <a:cs typeface="+mn-cs"/>
                          </a:rPr>
                          <m:t>𝑡𝑦𝑝𝑒</m:t>
                        </m:r>
                      </m:sub>
                    </m:sSub>
                  </m:oMath>
                </a14:m>
                <a:r>
                  <a:rPr lang="ar-AE" b="1"/>
                  <a:t>:</a:t>
                </a:r>
                <a:r>
                  <a:rPr lang="ar-AE"/>
                  <a:t> </a:t>
                </a:r>
                <a:r>
                  <a:rPr lang="vi-VN"/>
                  <a:t>tập trung sửa lỗi loại hành động </a:t>
                </a:r>
              </a:p>
              <a:p>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𝐷</m:t>
                        </m:r>
                      </m:e>
                      <m:sub>
                        <m:r>
                          <a:rPr lang="ar-AE" sz="1200" i="1" kern="1200">
                            <a:solidFill>
                              <a:schemeClr val="tx1"/>
                            </a:solidFill>
                            <a:latin typeface="+mn-lt"/>
                            <a:ea typeface="+mn-ea"/>
                            <a:cs typeface="+mn-cs"/>
                          </a:rPr>
                          <m:t>𝑝𝑎𝑟𝑎𝑚</m:t>
                        </m:r>
                      </m:sub>
                    </m:sSub>
                  </m:oMath>
                </a14:m>
                <a:r>
                  <a:rPr lang="ar-AE" b="1"/>
                  <a:t>:</a:t>
                </a:r>
                <a:r>
                  <a:rPr lang="ar-AE"/>
                  <a:t> </a:t>
                </a:r>
                <a:r>
                  <a:rPr lang="vi-VN"/>
                  <a:t>tập trung cải thiện độ chính xác </a:t>
                </a:r>
              </a:p>
              <a:p>
                <a:r>
                  <a:rPr lang="vi-VN"/>
                  <a:t>Trong quá trình huấn luyện, mỗi mini-batch được lấy mẫu từ các bộ này theo tỷ lệ </a:t>
                </a:r>
                <a14:m>
                  <m:oMath xmlns:m="http://schemas.openxmlformats.org/officeDocument/2006/math">
                    <m:d>
                      <m:dPr>
                        <m:begChr m:val="{"/>
                        <m:endChr m:val="}"/>
                        <m:sepChr m:val=","/>
                        <m:ctrlPr>
                          <a:rPr lang="ar-AE" sz="1200" kern="1200">
                            <a:solidFill>
                              <a:schemeClr val="tx1"/>
                            </a:solidFill>
                            <a:latin typeface="+mn-lt"/>
                            <a:ea typeface="+mn-ea"/>
                            <a:cs typeface="+mn-cs"/>
                          </a:rPr>
                        </m:ctrlPr>
                      </m:dPr>
                      <m:e>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𝛽</m:t>
                            </m:r>
                          </m:e>
                          <m:sub>
                            <m:r>
                              <a:rPr lang="ar-AE" sz="1200" i="1" kern="1200">
                                <a:solidFill>
                                  <a:schemeClr val="tx1"/>
                                </a:solidFill>
                                <a:latin typeface="+mn-lt"/>
                                <a:ea typeface="+mn-ea"/>
                                <a:cs typeface="+mn-cs"/>
                              </a:rPr>
                              <m:t>𝑐𝑜𝑛</m:t>
                            </m:r>
                          </m:sub>
                        </m:sSub>
                      </m:e>
                      <m:e>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𝛽</m:t>
                            </m:r>
                          </m:e>
                          <m:sub>
                            <m:r>
                              <a:rPr lang="ar-AE" sz="1200" i="1" kern="1200">
                                <a:solidFill>
                                  <a:schemeClr val="tx1"/>
                                </a:solidFill>
                                <a:latin typeface="+mn-lt"/>
                                <a:ea typeface="+mn-ea"/>
                                <a:cs typeface="+mn-cs"/>
                              </a:rPr>
                              <m:t>𝑡𝑦𝑝𝑒</m:t>
                            </m:r>
                          </m:sub>
                        </m:sSub>
                      </m:e>
                      <m:e>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𝛽</m:t>
                            </m:r>
                          </m:e>
                          <m:sub>
                            <m:r>
                              <a:rPr lang="ar-AE" sz="1200" i="1" kern="1200">
                                <a:solidFill>
                                  <a:schemeClr val="tx1"/>
                                </a:solidFill>
                                <a:latin typeface="+mn-lt"/>
                                <a:ea typeface="+mn-ea"/>
                                <a:cs typeface="+mn-cs"/>
                              </a:rPr>
                              <m:t>𝑝𝑎𝑟𝑎𝑚</m:t>
                            </m:r>
                          </m:sub>
                        </m:sSub>
                      </m:e>
                    </m:d>
                  </m:oMath>
                </a14:m>
                <a:r>
                  <a:rPr lang="ar-AE"/>
                  <a:t>, </a:t>
                </a:r>
                <a:r>
                  <a:rPr lang="vi-VN"/>
                  <a:t>giúp mô hình cải thiện đồng đều các điểm yếu và học hiệu quả hơn.</a:t>
                </a:r>
              </a:p>
              <a:p>
                <a:endParaRPr lang="en-US"/>
              </a:p>
              <a:p>
                <a:endParaRPr lang="en-US"/>
              </a:p>
              <a:p>
                <a:endParaRPr lang="vi-VN"/>
              </a:p>
            </p:txBody>
          </p:sp>
        </mc:Choice>
        <mc:Fallback>
          <p:sp>
            <p:nvSpPr>
              <p:cNvPr id="3" name="Notes Placeholder 2">
                <a:extLst>
                  <a:ext uri="{FF2B5EF4-FFF2-40B4-BE49-F238E27FC236}">
                    <a16:creationId xmlns:a16="http://schemas.microsoft.com/office/drawing/2014/main" id="{C9FEFC27-DFB2-4571-9E95-264E18E81826}"/>
                  </a:ext>
                </a:extLst>
              </p:cNvPr>
              <p:cNvSpPr>
                <a:spLocks noGrp="1"/>
              </p:cNvSpPr>
              <p:nvPr>
                <p:ph type="body" idx="1"/>
              </p:nvPr>
            </p:nvSpPr>
            <p:spPr/>
            <p:txBody>
              <a:bodyPr/>
              <a:lstStyle/>
              <a:p>
                <a:r>
                  <a:rPr lang="vi-VN"/>
                  <a:t>Việc huấn luyện bộ thực thi cấp thấp </a:t>
                </a:r>
                <a:r>
                  <a:rPr lang="ar-AE" sz="1200" i="0" kern="1200">
                    <a:solidFill>
                      <a:schemeClr val="tx1"/>
                    </a:solidFill>
                    <a:latin typeface="Cambria Math" panose="02040503050406030204" pitchFamily="18" charset="0"/>
                    <a:ea typeface="+mn-ea"/>
                    <a:cs typeface="+mn-cs"/>
                  </a:rPr>
                  <a:t>𝜋_𝐿</a:t>
                </a:r>
                <a:r>
                  <a:rPr lang="vi-VN"/>
                  <a:t>đối mặt với hai thách thức:</a:t>
                </a:r>
                <a:br>
                  <a:rPr lang="vi-VN"/>
                </a:br>
                <a:r>
                  <a:rPr lang="vi-VN"/>
                  <a:t>(i) </a:t>
                </a:r>
                <a:r>
                  <a:rPr lang="vi-VN" b="1"/>
                  <a:t>Mất cân bằng mẫu (Sample Imbalance):</a:t>
                </a:r>
                <a:r>
                  <a:rPr lang="vi-VN"/>
                  <a:t> Dữ liệu huấn luyện thường bị lệch, trong đó các thao tác phổ biến (ví dụ: click) xuất hiện nhiều hơn đáng kể so với các thao tác hiếm (ví dụ: long-press, swipe).</a:t>
                </a:r>
                <a:br>
                  <a:rPr lang="vi-VN"/>
                </a:br>
                <a:r>
                  <a:rPr lang="vi-VN"/>
                  <a:t>(ii) </a:t>
                </a:r>
                <a:r>
                  <a:rPr lang="vi-VN" b="1"/>
                  <a:t>Khám phá kém hiệu quả (Inefficient Exploration):</a:t>
                </a:r>
                <a:r>
                  <a:rPr lang="vi-VN"/>
                  <a:t> Trong các tác vụ dài, không gian hành động rất lớn khiến agent khó tự tìm ra các quỹ đạo thành công thông qua thử-sai.</a:t>
                </a:r>
                <a:endParaRPr lang="en-US"/>
              </a:p>
              <a:p>
                <a:endParaRPr lang="en-US"/>
              </a:p>
              <a:p>
                <a:r>
                  <a:rPr lang="vi-VN" b="1"/>
                  <a:t>CÂN BẰNG REPLAY THEO LỖI (ERROR-DECOUPLED REPLAY BALANCING)</a:t>
                </a:r>
                <a:r>
                  <a:rPr lang="vi-VN"/>
                  <a:t> </a:t>
                </a:r>
              </a:p>
              <a:p>
                <a:r>
                  <a:rPr lang="vi-VN"/>
                  <a:t>Chúng tôi nhận thấy lỗi thực thi ở mức hành động có thể tách thành hai loại:</a:t>
                </a:r>
              </a:p>
              <a:p>
                <a:r>
                  <a:rPr lang="vi-VN" b="1"/>
                  <a:t>Lỗi loại hành động (type errors):</a:t>
                </a:r>
                <a:r>
                  <a:rPr lang="vi-VN"/>
                  <a:t> ví dụ dự đoán swipe thay vì click </a:t>
                </a:r>
              </a:p>
              <a:p>
                <a:r>
                  <a:rPr lang="vi-VN" b="1"/>
                  <a:t>Lỗi tham số (parameter errors):</a:t>
                </a:r>
                <a:r>
                  <a:rPr lang="vi-VN"/>
                  <a:t> ví dụ click đúng loại nhưng sai tọa độ </a:t>
                </a:r>
              </a:p>
              <a:p>
                <a:r>
                  <a:rPr lang="vi-VN"/>
                  <a:t>Với mỗi đầu vào huấn luyện </a:t>
                </a:r>
                <a:r>
                  <a:rPr lang="vi-VN" sz="1200" i="0" kern="1200">
                    <a:solidFill>
                      <a:schemeClr val="tx1"/>
                    </a:solidFill>
                    <a:latin typeface="+mn-lt"/>
                    <a:ea typeface="+mn-ea"/>
                    <a:cs typeface="+mn-cs"/>
                  </a:rPr>
                  <a:t>𝑖</a:t>
                </a:r>
                <a:r>
                  <a:rPr lang="vi-VN"/>
                  <a:t>, mô hình cấp thấp </a:t>
                </a:r>
                <a:r>
                  <a:rPr lang="ar-AE" sz="1200" i="0" kern="1200">
                    <a:solidFill>
                      <a:schemeClr val="tx1"/>
                    </a:solidFill>
                    <a:latin typeface="+mn-lt"/>
                    <a:ea typeface="+mn-ea"/>
                    <a:cs typeface="+mn-cs"/>
                  </a:rPr>
                  <a:t>𝜋_𝐿</a:t>
                </a:r>
                <a:r>
                  <a:rPr lang="vi-VN"/>
                  <a:t>sinh ra </a:t>
                </a:r>
                <a:r>
                  <a:rPr lang="vi-VN" sz="1200" i="0" kern="1200">
                    <a:solidFill>
                      <a:schemeClr val="tx1"/>
                    </a:solidFill>
                    <a:latin typeface="+mn-lt"/>
                    <a:ea typeface="+mn-ea"/>
                    <a:cs typeface="+mn-cs"/>
                  </a:rPr>
                  <a:t>𝐺</a:t>
                </a:r>
                <a:r>
                  <a:rPr lang="vi-VN"/>
                  <a:t>hành động ứng viên </a:t>
                </a:r>
                <a:r>
                  <a:rPr lang="ar-AE" sz="1200" i="0" kern="1200">
                    <a:solidFill>
                      <a:schemeClr val="tx1"/>
                    </a:solidFill>
                    <a:latin typeface="+mn-lt"/>
                    <a:ea typeface="+mn-ea"/>
                    <a:cs typeface="+mn-cs"/>
                  </a:rPr>
                  <a:t>{𝑎_𝑖^((𝑔) ) }_(𝑔=1)^𝐺</a:t>
                </a:r>
                <a:r>
                  <a:rPr lang="ar-AE"/>
                  <a:t>. </a:t>
                </a:r>
                <a:r>
                  <a:rPr lang="vi-VN"/>
                  <a:t>Với hành động chuẩn </a:t>
                </a:r>
                <a:r>
                  <a:rPr lang="ar-AE" sz="1200" i="0" kern="1200">
                    <a:solidFill>
                      <a:schemeClr val="tx1"/>
                    </a:solidFill>
                    <a:latin typeface="+mn-lt"/>
                    <a:ea typeface="+mn-ea"/>
                    <a:cs typeface="+mn-cs"/>
                  </a:rPr>
                  <a:t>𝑎 ̂_𝑖</a:t>
                </a:r>
                <a:r>
                  <a:rPr lang="ar-AE"/>
                  <a:t>, </a:t>
                </a:r>
                <a:r>
                  <a:rPr lang="vi-VN"/>
                  <a:t>ta định nghĩa phần thưởng nhị phân</a:t>
                </a:r>
                <a:r>
                  <a:rPr lang="en-US" baseline="0"/>
                  <a:t> công thức 5</a:t>
                </a:r>
                <a:endParaRPr lang="vi-VN"/>
              </a:p>
              <a:p>
                <a:r>
                  <a:rPr lang="vi-VN"/>
                  <a:t>trong đó:</a:t>
                </a:r>
              </a:p>
              <a:p>
                <a:r>
                  <a:rPr lang="vi-VN" b="0" i="0">
                    <a:latin typeface="Cambria Math" panose="02040503050406030204" pitchFamily="18" charset="0"/>
                  </a:rPr>
                  <a:t>"type</a:t>
                </a:r>
                <a:r>
                  <a:rPr lang="ar-AE" sz="1200" b="0" i="0" kern="1200">
                    <a:solidFill>
                      <a:schemeClr val="tx1"/>
                    </a:solidFill>
                    <a:latin typeface="+mn-lt"/>
                    <a:ea typeface="+mn-ea"/>
                    <a:cs typeface="+mn-cs"/>
                  </a:rPr>
                  <a:t>" (⋅)</a:t>
                </a:r>
                <a:r>
                  <a:rPr lang="vi-VN"/>
                  <a:t>là loại hành động (click, swipe, …) </a:t>
                </a:r>
              </a:p>
              <a:p>
                <a:r>
                  <a:rPr lang="vi-VN" b="0" i="0">
                    <a:latin typeface="Cambria Math" panose="02040503050406030204" pitchFamily="18" charset="0"/>
                  </a:rPr>
                  <a:t>"coord</a:t>
                </a:r>
                <a:r>
                  <a:rPr lang="ar-AE" sz="1200" b="0" i="0" kern="1200">
                    <a:solidFill>
                      <a:schemeClr val="tx1"/>
                    </a:solidFill>
                    <a:latin typeface="+mn-lt"/>
                    <a:ea typeface="+mn-ea"/>
                    <a:cs typeface="+mn-cs"/>
                  </a:rPr>
                  <a:t>" (⋅)</a:t>
                </a:r>
                <a:r>
                  <a:rPr lang="vi-VN"/>
                  <a:t>là tham số tọa độ </a:t>
                </a:r>
              </a:p>
              <a:p>
                <a:r>
                  <a:rPr lang="vi-VN"/>
                  <a:t>Từ đó, ta ước lượng hai tỷ lệ lỗi cho mỗi mẫu </a:t>
                </a:r>
                <a:r>
                  <a:rPr lang="vi-VN" sz="1200" i="0" kern="1200">
                    <a:solidFill>
                      <a:schemeClr val="tx1"/>
                    </a:solidFill>
                    <a:latin typeface="+mn-lt"/>
                    <a:ea typeface="+mn-ea"/>
                    <a:cs typeface="+mn-cs"/>
                  </a:rPr>
                  <a:t>𝑖</a:t>
                </a:r>
                <a:r>
                  <a:rPr lang="en-US" sz="1200" b="0" i="0" kern="1200">
                    <a:solidFill>
                      <a:schemeClr val="tx1"/>
                    </a:solidFill>
                    <a:latin typeface="Cambria Math" panose="02040503050406030204" pitchFamily="18" charset="0"/>
                    <a:ea typeface="+mn-ea"/>
                    <a:cs typeface="+mn-cs"/>
                  </a:rPr>
                  <a:t> </a:t>
                </a:r>
                <a:endParaRPr lang="vi-VN"/>
              </a:p>
              <a:p>
                <a:r>
                  <a:rPr lang="vi-VN"/>
                  <a:t>Dựa trên hai giá trị này, mỗi mẫu được phân vào một trong ba bộ nhớ replay:</a:t>
                </a:r>
              </a:p>
              <a:p>
                <a:r>
                  <a:rPr lang="ar-AE" sz="1200" i="0" kern="1200">
                    <a:solidFill>
                      <a:schemeClr val="tx1"/>
                    </a:solidFill>
                    <a:latin typeface="+mn-lt"/>
                    <a:ea typeface="+mn-ea"/>
                    <a:cs typeface="+mn-cs"/>
                  </a:rPr>
                  <a:t>𝐷_𝑐𝑜𝑛</a:t>
                </a:r>
                <a:r>
                  <a:rPr lang="ar-AE" b="1"/>
                  <a:t>:</a:t>
                </a:r>
                <a:r>
                  <a:rPr lang="ar-AE"/>
                  <a:t> </a:t>
                </a:r>
                <a:r>
                  <a:rPr lang="vi-VN"/>
                  <a:t>dữ liệu thông thường </a:t>
                </a:r>
              </a:p>
              <a:p>
                <a:r>
                  <a:rPr lang="ar-AE" sz="1200" i="0" kern="1200">
                    <a:solidFill>
                      <a:schemeClr val="tx1"/>
                    </a:solidFill>
                    <a:latin typeface="+mn-lt"/>
                    <a:ea typeface="+mn-ea"/>
                    <a:cs typeface="+mn-cs"/>
                  </a:rPr>
                  <a:t>𝐷_𝑡𝑦𝑝𝑒</a:t>
                </a:r>
                <a:r>
                  <a:rPr lang="ar-AE" b="1"/>
                  <a:t>:</a:t>
                </a:r>
                <a:r>
                  <a:rPr lang="ar-AE"/>
                  <a:t> </a:t>
                </a:r>
                <a:r>
                  <a:rPr lang="vi-VN"/>
                  <a:t>tập trung sửa lỗi loại hành động </a:t>
                </a:r>
              </a:p>
              <a:p>
                <a:r>
                  <a:rPr lang="ar-AE" sz="1200" i="0" kern="1200">
                    <a:solidFill>
                      <a:schemeClr val="tx1"/>
                    </a:solidFill>
                    <a:latin typeface="+mn-lt"/>
                    <a:ea typeface="+mn-ea"/>
                    <a:cs typeface="+mn-cs"/>
                  </a:rPr>
                  <a:t>𝐷_𝑝𝑎𝑟𝑎𝑚</a:t>
                </a:r>
                <a:r>
                  <a:rPr lang="ar-AE" b="1"/>
                  <a:t>:</a:t>
                </a:r>
                <a:r>
                  <a:rPr lang="ar-AE"/>
                  <a:t> </a:t>
                </a:r>
                <a:r>
                  <a:rPr lang="vi-VN"/>
                  <a:t>tập trung cải thiện độ chính xác </a:t>
                </a:r>
              </a:p>
              <a:p>
                <a:r>
                  <a:rPr lang="vi-VN"/>
                  <a:t>Trong quá trình huấn luyện, mỗi mini-batch được lấy mẫu từ các bộ này theo tỷ lệ </a:t>
                </a:r>
                <a:r>
                  <a:rPr lang="ar-AE" sz="1200" i="0" kern="1200">
                    <a:solidFill>
                      <a:schemeClr val="tx1"/>
                    </a:solidFill>
                    <a:latin typeface="+mn-lt"/>
                    <a:ea typeface="+mn-ea"/>
                    <a:cs typeface="+mn-cs"/>
                  </a:rPr>
                  <a:t>{𝛽_𝑐𝑜𝑛ⓜ,𝛽_𝑡𝑦𝑝𝑒ⓜ,𝛽_𝑝𝑎𝑟𝑎𝑚 }</a:t>
                </a:r>
                <a:r>
                  <a:rPr lang="ar-AE"/>
                  <a:t>, </a:t>
                </a:r>
                <a:r>
                  <a:rPr lang="vi-VN"/>
                  <a:t>giúp mô hình cải thiện đồng đều các điểm yếu và học hiệu quả hơn.</a:t>
                </a:r>
              </a:p>
              <a:p>
                <a:endParaRPr lang="en-US"/>
              </a:p>
              <a:p>
                <a:endParaRPr lang="en-US"/>
              </a:p>
              <a:p>
                <a:endParaRPr lang="vi-VN"/>
              </a:p>
            </p:txBody>
          </p:sp>
        </mc:Fallback>
      </mc:AlternateContent>
      <p:sp>
        <p:nvSpPr>
          <p:cNvPr id="4" name="Slide Number Placeholder 3">
            <a:extLst>
              <a:ext uri="{FF2B5EF4-FFF2-40B4-BE49-F238E27FC236}">
                <a16:creationId xmlns:a16="http://schemas.microsoft.com/office/drawing/2014/main" id="{5C48B0C5-966F-7255-AAA4-C3B2E7A9D750}"/>
              </a:ext>
            </a:extLst>
          </p:cNvPr>
          <p:cNvSpPr>
            <a:spLocks noGrp="1"/>
          </p:cNvSpPr>
          <p:nvPr>
            <p:ph type="sldNum" sz="quarter" idx="5"/>
          </p:nvPr>
        </p:nvSpPr>
        <p:spPr/>
        <p:txBody>
          <a:bodyPr/>
          <a:lstStyle/>
          <a:p>
            <a:fld id="{37C79A95-A3A4-4360-A42D-7FE47A333A7F}" type="slidenum">
              <a:rPr lang="en-US" smtClean="0"/>
              <a:t>4</a:t>
            </a:fld>
            <a:endParaRPr lang="en-US"/>
          </a:p>
        </p:txBody>
      </p:sp>
    </p:spTree>
    <p:extLst>
      <p:ext uri="{BB962C8B-B14F-4D97-AF65-F5344CB8AC3E}">
        <p14:creationId xmlns:p14="http://schemas.microsoft.com/office/powerpoint/2010/main" val="630067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520E-E01B-C6F7-77E1-A7E6E021A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D51AC-240B-C0DC-43C9-66CA7A210955}"/>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2B746635-BAB1-B4E1-A974-EE83410D0B9C}"/>
                  </a:ext>
                </a:extLst>
              </p:cNvPr>
              <p:cNvSpPr>
                <a:spLocks noGrp="1"/>
              </p:cNvSpPr>
              <p:nvPr>
                <p:ph type="body" idx="1"/>
              </p:nvPr>
            </p:nvSpPr>
            <p:spPr/>
            <p:txBody>
              <a:bodyPr/>
              <a:lstStyle/>
              <a:p>
                <a:r>
                  <a:rPr lang="vi-VN"/>
                  <a:t>Trong các agent dựa trên (V)LLM, không gian hành động rất lớn và mang tính văn bản, khiến việc tự khám phá hành động đúng trở nên khó khăn. Việc cân bằng replay là chưa đủ.</a:t>
                </a:r>
              </a:p>
              <a:p>
                <a:r>
                  <a:rPr lang="vi-VN"/>
                  <a:t>Do đó, chúng tôi đề xuất cơ chế </a:t>
                </a:r>
                <a:r>
                  <a:rPr lang="vi-VN" b="1"/>
                  <a:t>chèn minh họa động</a:t>
                </a:r>
                <a:r>
                  <a:rPr lang="vi-VN"/>
                  <a:t>, trong đó một số bước hành động của chuyên gia được thêm vào đầu input của mô hình.</a:t>
                </a:r>
              </a:p>
              <a:p>
                <a:r>
                  <a:rPr lang="vi-VN"/>
                  <a:t>Độ dài phần được chèn </a:t>
                </a:r>
                <a14:m>
                  <m:oMath xmlns:m="http://schemas.openxmlformats.org/officeDocument/2006/math">
                    <m:r>
                      <a:rPr lang="vi-VN" sz="1200" i="1" kern="1200">
                        <a:solidFill>
                          <a:schemeClr val="tx1"/>
                        </a:solidFill>
                        <a:latin typeface="+mn-lt"/>
                        <a:ea typeface="+mn-ea"/>
                        <a:cs typeface="+mn-cs"/>
                      </a:rPr>
                      <m:t>𝑙</m:t>
                    </m:r>
                  </m:oMath>
                </a14:m>
                <a:r>
                  <a:rPr lang="vi-VN"/>
                  <a:t>được xác định bởi</a:t>
                </a:r>
                <a:r>
                  <a:rPr lang="en-US" baseline="0"/>
                  <a:t> công thức số 8</a:t>
                </a:r>
              </a:p>
              <a:p>
                <a:endParaRPr lang="en-US" baseline="0"/>
              </a:p>
              <a:p>
                <a:r>
                  <a:rPr lang="vi-VN"/>
                  <a:t>trong đó:</a:t>
                </a:r>
              </a:p>
              <a:p>
                <a14:m>
                  <m:oMath xmlns:m="http://schemas.openxmlformats.org/officeDocument/2006/math">
                    <m:r>
                      <a:rPr lang="vi-VN" sz="1200" i="1" kern="1200">
                        <a:solidFill>
                          <a:schemeClr val="tx1"/>
                        </a:solidFill>
                        <a:latin typeface="+mn-lt"/>
                        <a:ea typeface="+mn-ea"/>
                        <a:cs typeface="+mn-cs"/>
                      </a:rPr>
                      <m:t>𝐿</m:t>
                    </m:r>
                  </m:oMath>
                </a14:m>
                <a:r>
                  <a:rPr lang="vi-VN"/>
                  <a:t>: tổng số bước trong demonstration </a:t>
                </a:r>
              </a:p>
              <a:p>
                <a14:m>
                  <m:oMath xmlns:m="http://schemas.openxmlformats.org/officeDocument/2006/math">
                    <m:r>
                      <a:rPr lang="vi-VN" sz="1200" i="1" kern="1200">
                        <a:solidFill>
                          <a:schemeClr val="tx1"/>
                        </a:solidFill>
                        <a:latin typeface="+mn-lt"/>
                        <a:ea typeface="+mn-ea"/>
                        <a:cs typeface="+mn-cs"/>
                      </a:rPr>
                      <m:t>𝜎</m:t>
                    </m:r>
                    <m:d>
                      <m:dPr>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𝑘</m:t>
                        </m:r>
                      </m:e>
                    </m:d>
                    <m:r>
                      <a:rPr lang="ar-AE" sz="1200" i="0" kern="1200">
                        <a:solidFill>
                          <a:schemeClr val="tx1"/>
                        </a:solidFill>
                        <a:latin typeface="+mn-lt"/>
                        <a:ea typeface="+mn-ea"/>
                        <a:cs typeface="+mn-cs"/>
                      </a:rPr>
                      <m:t>=</m:t>
                    </m:r>
                    <m:r>
                      <m:rPr>
                        <m:sty m:val="p"/>
                      </m:rPr>
                      <a:rPr lang="vi-VN" sz="1200" i="0" kern="1200">
                        <a:solidFill>
                          <a:schemeClr val="tx1"/>
                        </a:solidFill>
                        <a:latin typeface="+mn-lt"/>
                        <a:ea typeface="+mn-ea"/>
                        <a:cs typeface="+mn-cs"/>
                      </a:rPr>
                      <m:t>max</m:t>
                    </m:r>
                    <m:r>
                      <a:rPr lang="vi-VN" sz="1200" i="0" kern="1200">
                        <a:solidFill>
                          <a:schemeClr val="tx1"/>
                        </a:solidFill>
                        <a:latin typeface="+mn-lt"/>
                        <a:ea typeface="+mn-ea"/>
                        <a:cs typeface="+mn-cs"/>
                      </a:rPr>
                      <m:t>⁡</m:t>
                    </m:r>
                    <m:d>
                      <m:dPr>
                        <m:sepChr m:val=","/>
                        <m:ctrlPr>
                          <a:rPr lang="ar-AE" sz="1200" i="1" kern="1200">
                            <a:solidFill>
                              <a:schemeClr val="tx1"/>
                            </a:solidFill>
                            <a:latin typeface="+mn-lt"/>
                            <a:ea typeface="+mn-ea"/>
                            <a:cs typeface="+mn-cs"/>
                          </a:rPr>
                        </m:ctrlPr>
                      </m:dPr>
                      <m:e>
                        <m:r>
                          <a:rPr lang="ar-AE" sz="1200" i="0" kern="1200">
                            <a:solidFill>
                              <a:schemeClr val="tx1"/>
                            </a:solidFill>
                            <a:latin typeface="+mn-lt"/>
                            <a:ea typeface="+mn-ea"/>
                            <a:cs typeface="+mn-cs"/>
                          </a:rPr>
                          <m:t>0</m:t>
                        </m:r>
                      </m:e>
                      <m:e>
                        <m:r>
                          <a:rPr lang="ar-AE" sz="1200" i="0" kern="1200">
                            <a:solidFill>
                              <a:schemeClr val="tx1"/>
                            </a:solidFill>
                            <a:latin typeface="+mn-lt"/>
                            <a:ea typeface="+mn-ea"/>
                            <a:cs typeface="+mn-cs"/>
                          </a:rPr>
                          <m:t>1</m:t>
                        </m:r>
                        <m:r>
                          <a:rPr lang="ar-AE" sz="1200" i="0" kern="1200">
                            <a:solidFill>
                              <a:schemeClr val="tx1"/>
                            </a:solidFill>
                            <a:latin typeface="+mn-lt"/>
                            <a:ea typeface="+mn-ea"/>
                            <a:cs typeface="+mn-cs"/>
                          </a:rPr>
                          <m:t>−</m:t>
                        </m:r>
                        <m:r>
                          <a:rPr lang="ar-AE" sz="1200" i="1" kern="1200">
                            <a:solidFill>
                              <a:schemeClr val="tx1"/>
                            </a:solidFill>
                            <a:latin typeface="+mn-lt"/>
                            <a:ea typeface="+mn-ea"/>
                            <a:cs typeface="+mn-cs"/>
                          </a:rPr>
                          <m:t>𝑘</m:t>
                        </m:r>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𝐾</m:t>
                            </m:r>
                          </m:e>
                          <m:sub>
                            <m:r>
                              <a:rPr lang="ar-AE" sz="1200" i="1" kern="1200">
                                <a:solidFill>
                                  <a:schemeClr val="tx1"/>
                                </a:solidFill>
                                <a:latin typeface="+mn-lt"/>
                                <a:ea typeface="+mn-ea"/>
                                <a:cs typeface="+mn-cs"/>
                              </a:rPr>
                              <m:t>𝑚𝑎𝑥</m:t>
                            </m:r>
                          </m:sub>
                        </m:sSub>
                      </m:e>
                    </m:d>
                  </m:oMath>
                </a14:m>
                <a:r>
                  <a:rPr lang="ar-AE"/>
                  <a:t>: </a:t>
                </a:r>
                <a:r>
                  <a:rPr lang="vi-VN"/>
                  <a:t>hàm giảm theo bước huấn luyện </a:t>
                </a:r>
              </a:p>
              <a:p>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𝑓</m:t>
                        </m:r>
                      </m:e>
                      <m:sub>
                        <m:r>
                          <a:rPr lang="ar-AE" sz="1200" i="1" kern="1200">
                            <a:solidFill>
                              <a:schemeClr val="tx1"/>
                            </a:solidFill>
                            <a:latin typeface="+mn-lt"/>
                            <a:ea typeface="+mn-ea"/>
                            <a:cs typeface="+mn-cs"/>
                          </a:rPr>
                          <m:t>𝑔𝑎𝑡𝑒</m:t>
                        </m:r>
                      </m:sub>
                    </m:sSub>
                    <m:d>
                      <m:dPr>
                        <m:ctrlPr>
                          <a:rPr lang="ar-AE" sz="1200" i="1" kern="1200">
                            <a:solidFill>
                              <a:schemeClr val="tx1"/>
                            </a:solidFill>
                            <a:latin typeface="+mn-lt"/>
                            <a:ea typeface="+mn-ea"/>
                            <a:cs typeface="+mn-cs"/>
                          </a:rPr>
                        </m:ctrlPr>
                      </m:dPr>
                      <m:e>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𝑑</m:t>
                            </m:r>
                          </m:e>
                          <m:sub>
                            <m:r>
                              <a:rPr lang="ar-AE" sz="1200" i="1" kern="1200">
                                <a:solidFill>
                                  <a:schemeClr val="tx1"/>
                                </a:solidFill>
                                <a:latin typeface="+mn-lt"/>
                                <a:ea typeface="+mn-ea"/>
                                <a:cs typeface="+mn-cs"/>
                              </a:rPr>
                              <m:t>𝑖</m:t>
                            </m:r>
                          </m:sub>
                        </m:sSub>
                      </m:e>
                    </m:d>
                    <m:r>
                      <a:rPr lang="ar-AE" sz="1200" i="0" kern="1200">
                        <a:solidFill>
                          <a:schemeClr val="tx1"/>
                        </a:solidFill>
                        <a:latin typeface="+mn-lt"/>
                        <a:ea typeface="+mn-ea"/>
                        <a:cs typeface="+mn-cs"/>
                      </a:rPr>
                      <m:t>=</m:t>
                    </m:r>
                    <m:r>
                      <m:rPr>
                        <m:sty m:val="p"/>
                      </m:rPr>
                      <a:rPr lang="vi-VN" sz="1200" i="0" kern="1200">
                        <a:solidFill>
                          <a:schemeClr val="tx1"/>
                        </a:solidFill>
                        <a:latin typeface="+mn-lt"/>
                        <a:ea typeface="+mn-ea"/>
                        <a:cs typeface="+mn-cs"/>
                      </a:rPr>
                      <m:t>tanh</m:t>
                    </m:r>
                    <m:r>
                      <a:rPr lang="vi-VN" sz="1200" i="0" kern="1200">
                        <a:solidFill>
                          <a:schemeClr val="tx1"/>
                        </a:solidFill>
                        <a:latin typeface="+mn-lt"/>
                        <a:ea typeface="+mn-ea"/>
                        <a:cs typeface="+mn-cs"/>
                      </a:rPr>
                      <m:t>⁡</m:t>
                    </m:r>
                    <m:d>
                      <m:dPr>
                        <m:ctrlPr>
                          <a:rPr lang="ar-AE" sz="1200" i="1" kern="1200">
                            <a:solidFill>
                              <a:schemeClr val="tx1"/>
                            </a:solidFill>
                            <a:latin typeface="+mn-lt"/>
                            <a:ea typeface="+mn-ea"/>
                            <a:cs typeface="+mn-cs"/>
                          </a:rPr>
                        </m:ctrlPr>
                      </m:dPr>
                      <m:e>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𝑑</m:t>
                            </m:r>
                          </m:e>
                          <m:sub>
                            <m:r>
                              <a:rPr lang="ar-AE" sz="1200" i="1" kern="1200">
                                <a:solidFill>
                                  <a:schemeClr val="tx1"/>
                                </a:solidFill>
                                <a:latin typeface="+mn-lt"/>
                                <a:ea typeface="+mn-ea"/>
                                <a:cs typeface="+mn-cs"/>
                              </a:rPr>
                              <m:t>𝑖</m:t>
                            </m:r>
                          </m:sub>
                        </m:sSub>
                        <m:r>
                          <a:rPr lang="ar-AE" sz="1200" i="0" kern="1200">
                            <a:solidFill>
                              <a:schemeClr val="tx1"/>
                            </a:solidFill>
                            <a:latin typeface="+mn-lt"/>
                            <a:ea typeface="+mn-ea"/>
                            <a:cs typeface="+mn-cs"/>
                          </a:rPr>
                          <m:t>/</m:t>
                        </m:r>
                        <m:r>
                          <a:rPr lang="ar-AE" sz="1200" i="1" kern="1200">
                            <a:solidFill>
                              <a:schemeClr val="tx1"/>
                            </a:solidFill>
                            <a:latin typeface="+mn-lt"/>
                            <a:ea typeface="+mn-ea"/>
                            <a:cs typeface="+mn-cs"/>
                          </a:rPr>
                          <m:t>𝑇</m:t>
                        </m:r>
                      </m:e>
                    </m:d>
                  </m:oMath>
                </a14:m>
                <a:r>
                  <a:rPr lang="ar-AE"/>
                  <a:t>: </a:t>
                </a:r>
                <a:r>
                  <a:rPr lang="vi-VN"/>
                  <a:t>hàm điều chỉnh theo độ khó </a:t>
                </a:r>
              </a:p>
              <a:p>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𝑑</m:t>
                        </m:r>
                      </m:e>
                      <m:sub>
                        <m:r>
                          <a:rPr lang="ar-AE" sz="1200" i="1" kern="1200">
                            <a:solidFill>
                              <a:schemeClr val="tx1"/>
                            </a:solidFill>
                            <a:latin typeface="+mn-lt"/>
                            <a:ea typeface="+mn-ea"/>
                            <a:cs typeface="+mn-cs"/>
                          </a:rPr>
                          <m:t>𝑖</m:t>
                        </m:r>
                      </m:sub>
                    </m:sSub>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𝜂</m:t>
                        </m:r>
                      </m:e>
                      <m:sub>
                        <m:r>
                          <a:rPr lang="ar-AE" sz="1200" i="1" kern="1200">
                            <a:solidFill>
                              <a:schemeClr val="tx1"/>
                            </a:solidFill>
                            <a:latin typeface="+mn-lt"/>
                            <a:ea typeface="+mn-ea"/>
                            <a:cs typeface="+mn-cs"/>
                          </a:rPr>
                          <m:t>𝑡𝑦𝑝𝑒</m:t>
                        </m:r>
                      </m:sub>
                    </m:sSub>
                    <m:d>
                      <m:dPr>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𝑖</m:t>
                        </m:r>
                      </m:e>
                    </m:d>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𝜂</m:t>
                        </m:r>
                      </m:e>
                      <m:sub>
                        <m:r>
                          <a:rPr lang="ar-AE" sz="1200" i="1" kern="1200">
                            <a:solidFill>
                              <a:schemeClr val="tx1"/>
                            </a:solidFill>
                            <a:latin typeface="+mn-lt"/>
                            <a:ea typeface="+mn-ea"/>
                            <a:cs typeface="+mn-cs"/>
                          </a:rPr>
                          <m:t>𝑝𝑎𝑟𝑎𝑚</m:t>
                        </m:r>
                      </m:sub>
                    </m:sSub>
                    <m:d>
                      <m:dPr>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𝑖</m:t>
                        </m:r>
                      </m:e>
                    </m:d>
                  </m:oMath>
                </a14:m>
                <a:r>
                  <a:rPr lang="ar-AE"/>
                  <a:t>: </a:t>
                </a:r>
                <a:r>
                  <a:rPr lang="vi-VN"/>
                  <a:t>độ khó mẫu </a:t>
                </a:r>
              </a:p>
              <a:p>
                <a:r>
                  <a:rPr lang="vi-VN"/>
                  <a:t>Phần prefix thực tế là </a:t>
                </a:r>
                <a14:m>
                  <m:oMath xmlns:m="http://schemas.openxmlformats.org/officeDocument/2006/math">
                    <m:d>
                      <m:dPr>
                        <m:begChr m:val="⌊"/>
                        <m:endChr m:val="⌋"/>
                        <m:ctrlPr>
                          <a:rPr lang="ar-AE" sz="1200" kern="1200">
                            <a:solidFill>
                              <a:schemeClr val="tx1"/>
                            </a:solidFill>
                            <a:latin typeface="+mn-lt"/>
                            <a:ea typeface="+mn-ea"/>
                            <a:cs typeface="+mn-cs"/>
                          </a:rPr>
                        </m:ctrlPr>
                      </m:dPr>
                      <m:e>
                        <m:r>
                          <a:rPr lang="ar-AE" sz="1200" i="1" kern="1200">
                            <a:solidFill>
                              <a:schemeClr val="tx1"/>
                            </a:solidFill>
                            <a:latin typeface="+mn-lt"/>
                            <a:ea typeface="+mn-ea"/>
                            <a:cs typeface="+mn-cs"/>
                          </a:rPr>
                          <m:t>𝑙</m:t>
                        </m:r>
                      </m:e>
                    </m:d>
                  </m:oMath>
                </a14:m>
                <a:r>
                  <a:rPr lang="vi-VN"/>
                  <a:t>hành động đầu tiên của expert.</a:t>
                </a:r>
              </a:p>
              <a:p>
                <a:r>
                  <a:rPr lang="vi-VN"/>
                  <a:t>Trực quan, cơ chế này:</a:t>
                </a:r>
              </a:p>
              <a:p>
                <a:r>
                  <a:rPr lang="vi-VN"/>
                  <a:t>cung cấp nhiều hướng dẫn hơn cho các mẫu khó </a:t>
                </a:r>
              </a:p>
              <a:p>
                <a:r>
                  <a:rPr lang="vi-VN"/>
                  <a:t>giảm dần phụ thuộc vào demonstration khi huấn luyện tiến triển </a:t>
                </a:r>
              </a:p>
              <a:p>
                <a:r>
                  <a:rPr lang="vi-VN"/>
                  <a:t>Nhờ đó, xác suất sinh ra các quỹ đạo thành công tăng lên, tạo ra tín hiệu học dày đặc và chất lượng hơn. </a:t>
                </a:r>
                <a:endParaRPr lang="en-US"/>
              </a:p>
              <a:p>
                <a:endParaRPr lang="en-US"/>
              </a:p>
              <a:p>
                <a:r>
                  <a:rPr lang="vi-VN"/>
                  <a:t>1. Lấy 1 sample (ảnh + task + sub-goal)</a:t>
                </a:r>
              </a:p>
              <a:p>
                <a:r>
                  <a:rPr lang="vi-VN"/>
                  <a:t>2. Tính độ khó của sample (d_i)</a:t>
                </a:r>
              </a:p>
              <a:p>
                <a:r>
                  <a:rPr lang="vi-VN"/>
                  <a:t>3. Quyết định số bước demo cần chèn (l)</a:t>
                </a:r>
              </a:p>
              <a:p>
                <a:r>
                  <a:rPr lang="vi-VN"/>
                  <a:t>4. Tạo input mới = demo prefix + query</a:t>
                </a:r>
              </a:p>
              <a:p>
                <a:r>
                  <a:rPr lang="vi-VN"/>
                  <a:t>5. Feed vào model → train (RL/GRPO)</a:t>
                </a:r>
              </a:p>
              <a:p>
                <a:endParaRPr lang="vi-VN"/>
              </a:p>
            </p:txBody>
          </p:sp>
        </mc:Choice>
        <mc:Fallback>
          <p:sp>
            <p:nvSpPr>
              <p:cNvPr id="3" name="Notes Placeholder 2">
                <a:extLst>
                  <a:ext uri="{FF2B5EF4-FFF2-40B4-BE49-F238E27FC236}">
                    <a16:creationId xmlns:a16="http://schemas.microsoft.com/office/drawing/2014/main" id="{2B746635-BAB1-B4E1-A974-EE83410D0B9C}"/>
                  </a:ext>
                </a:extLst>
              </p:cNvPr>
              <p:cNvSpPr>
                <a:spLocks noGrp="1"/>
              </p:cNvSpPr>
              <p:nvPr>
                <p:ph type="body" idx="1"/>
              </p:nvPr>
            </p:nvSpPr>
            <p:spPr/>
            <p:txBody>
              <a:bodyPr/>
              <a:lstStyle/>
              <a:p>
                <a:r>
                  <a:rPr lang="vi-VN"/>
                  <a:t>Trong các agent dựa trên (V)LLM, không gian hành động rất lớn và mang tính văn bản, khiến việc tự khám phá hành động đúng trở nên khó khăn. Việc cân bằng replay là chưa đủ.</a:t>
                </a:r>
              </a:p>
              <a:p>
                <a:r>
                  <a:rPr lang="vi-VN"/>
                  <a:t>Do đó, chúng tôi đề xuất cơ chế </a:t>
                </a:r>
                <a:r>
                  <a:rPr lang="vi-VN" b="1"/>
                  <a:t>chèn minh họa động</a:t>
                </a:r>
                <a:r>
                  <a:rPr lang="vi-VN"/>
                  <a:t>, trong đó một số bước hành động của chuyên gia được thêm vào đầu input của mô hình.</a:t>
                </a:r>
              </a:p>
              <a:p>
                <a:r>
                  <a:rPr lang="vi-VN"/>
                  <a:t>Độ dài phần được chèn </a:t>
                </a:r>
                <a:r>
                  <a:rPr lang="vi-VN" sz="1200" i="0" kern="1200">
                    <a:solidFill>
                      <a:schemeClr val="tx1"/>
                    </a:solidFill>
                    <a:latin typeface="+mn-lt"/>
                    <a:ea typeface="+mn-ea"/>
                    <a:cs typeface="+mn-cs"/>
                  </a:rPr>
                  <a:t>𝑙</a:t>
                </a:r>
                <a:r>
                  <a:rPr lang="vi-VN"/>
                  <a:t>được xác định bởi</a:t>
                </a:r>
                <a:r>
                  <a:rPr lang="en-US" baseline="0"/>
                  <a:t> công thức số 8</a:t>
                </a:r>
              </a:p>
              <a:p>
                <a:endParaRPr lang="en-US" baseline="0"/>
              </a:p>
              <a:p>
                <a:r>
                  <a:rPr lang="vi-VN"/>
                  <a:t>trong đó:</a:t>
                </a:r>
              </a:p>
              <a:p>
                <a:r>
                  <a:rPr lang="vi-VN" sz="1200" i="0" kern="1200">
                    <a:solidFill>
                      <a:schemeClr val="tx1"/>
                    </a:solidFill>
                    <a:latin typeface="+mn-lt"/>
                    <a:ea typeface="+mn-ea"/>
                    <a:cs typeface="+mn-cs"/>
                  </a:rPr>
                  <a:t>𝐿</a:t>
                </a:r>
                <a:r>
                  <a:rPr lang="vi-VN"/>
                  <a:t>: tổng số bước trong demonstration </a:t>
                </a:r>
              </a:p>
              <a:p>
                <a:r>
                  <a:rPr lang="vi-VN" sz="1200" i="0" kern="1200">
                    <a:solidFill>
                      <a:schemeClr val="tx1"/>
                    </a:solidFill>
                    <a:latin typeface="+mn-lt"/>
                    <a:ea typeface="+mn-ea"/>
                    <a:cs typeface="+mn-cs"/>
                  </a:rPr>
                  <a:t>𝜎</a:t>
                </a:r>
                <a:r>
                  <a:rPr lang="ar-AE" sz="1200" i="0" kern="1200">
                    <a:solidFill>
                      <a:schemeClr val="tx1"/>
                    </a:solidFill>
                    <a:latin typeface="+mn-lt"/>
                    <a:ea typeface="+mn-ea"/>
                    <a:cs typeface="+mn-cs"/>
                  </a:rPr>
                  <a:t>(𝑘)=</a:t>
                </a:r>
                <a:r>
                  <a:rPr lang="vi-VN" sz="1200" i="0" kern="1200">
                    <a:solidFill>
                      <a:schemeClr val="tx1"/>
                    </a:solidFill>
                    <a:latin typeface="+mn-lt"/>
                    <a:ea typeface="+mn-ea"/>
                    <a:cs typeface="+mn-cs"/>
                  </a:rPr>
                  <a:t>max⁡</a:t>
                </a:r>
                <a:r>
                  <a:rPr lang="ar-AE" sz="1200" i="0" kern="1200">
                    <a:solidFill>
                      <a:schemeClr val="tx1"/>
                    </a:solidFill>
                    <a:latin typeface="+mn-lt"/>
                    <a:ea typeface="+mn-ea"/>
                    <a:cs typeface="+mn-cs"/>
                  </a:rPr>
                  <a:t>(0ⓜ,1−𝑘/𝐾_𝑚𝑎𝑥 )</a:t>
                </a:r>
                <a:r>
                  <a:rPr lang="ar-AE"/>
                  <a:t>: </a:t>
                </a:r>
                <a:r>
                  <a:rPr lang="vi-VN"/>
                  <a:t>hàm giảm theo bước huấn luyện </a:t>
                </a:r>
              </a:p>
              <a:p>
                <a:r>
                  <a:rPr lang="ar-AE" sz="1200" i="0" kern="1200">
                    <a:solidFill>
                      <a:schemeClr val="tx1"/>
                    </a:solidFill>
                    <a:latin typeface="+mn-lt"/>
                    <a:ea typeface="+mn-ea"/>
                    <a:cs typeface="+mn-cs"/>
                  </a:rPr>
                  <a:t>𝑓_𝑔𝑎𝑡𝑒 (𝑑_𝑖 )=</a:t>
                </a:r>
                <a:r>
                  <a:rPr lang="vi-VN" sz="1200" i="0" kern="1200">
                    <a:solidFill>
                      <a:schemeClr val="tx1"/>
                    </a:solidFill>
                    <a:latin typeface="+mn-lt"/>
                    <a:ea typeface="+mn-ea"/>
                    <a:cs typeface="+mn-cs"/>
                  </a:rPr>
                  <a:t>tanh⁡</a:t>
                </a:r>
                <a:r>
                  <a:rPr lang="ar-AE" sz="1200" i="0" kern="1200">
                    <a:solidFill>
                      <a:schemeClr val="tx1"/>
                    </a:solidFill>
                    <a:latin typeface="+mn-lt"/>
                    <a:ea typeface="+mn-ea"/>
                    <a:cs typeface="+mn-cs"/>
                  </a:rPr>
                  <a:t>(𝑑_𝑖/𝑇)</a:t>
                </a:r>
                <a:r>
                  <a:rPr lang="ar-AE"/>
                  <a:t>: </a:t>
                </a:r>
                <a:r>
                  <a:rPr lang="vi-VN"/>
                  <a:t>hàm điều chỉnh theo độ khó </a:t>
                </a:r>
              </a:p>
              <a:p>
                <a:r>
                  <a:rPr lang="ar-AE" sz="1200" i="0" kern="1200">
                    <a:solidFill>
                      <a:schemeClr val="tx1"/>
                    </a:solidFill>
                    <a:latin typeface="+mn-lt"/>
                    <a:ea typeface="+mn-ea"/>
                    <a:cs typeface="+mn-cs"/>
                  </a:rPr>
                  <a:t>𝑑_𝑖=𝜂_𝑡𝑦𝑝𝑒 (𝑖)+𝜂_𝑝𝑎𝑟𝑎𝑚 (𝑖)</a:t>
                </a:r>
                <a:r>
                  <a:rPr lang="ar-AE"/>
                  <a:t>: </a:t>
                </a:r>
                <a:r>
                  <a:rPr lang="vi-VN"/>
                  <a:t>độ khó mẫu </a:t>
                </a:r>
              </a:p>
              <a:p>
                <a:r>
                  <a:rPr lang="vi-VN"/>
                  <a:t>Phần prefix thực tế là </a:t>
                </a:r>
                <a:r>
                  <a:rPr lang="ar-AE" sz="1200" i="0" kern="1200">
                    <a:solidFill>
                      <a:schemeClr val="tx1"/>
                    </a:solidFill>
                    <a:latin typeface="+mn-lt"/>
                    <a:ea typeface="+mn-ea"/>
                    <a:cs typeface="+mn-cs"/>
                  </a:rPr>
                  <a:t>⌊𝑙⌋</a:t>
                </a:r>
                <a:r>
                  <a:rPr lang="vi-VN"/>
                  <a:t>hành động đầu tiên của expert.</a:t>
                </a:r>
              </a:p>
              <a:p>
                <a:r>
                  <a:rPr lang="vi-VN"/>
                  <a:t>Trực quan, cơ chế này:</a:t>
                </a:r>
              </a:p>
              <a:p>
                <a:r>
                  <a:rPr lang="vi-VN"/>
                  <a:t>cung cấp nhiều hướng dẫn hơn cho các mẫu khó </a:t>
                </a:r>
              </a:p>
              <a:p>
                <a:r>
                  <a:rPr lang="vi-VN"/>
                  <a:t>giảm dần phụ thuộc vào demonstration khi huấn luyện tiến triển </a:t>
                </a:r>
              </a:p>
              <a:p>
                <a:r>
                  <a:rPr lang="vi-VN"/>
                  <a:t>Nhờ đó, xác suất sinh ra các quỹ đạo thành công tăng lên, tạo ra tín hiệu học dày đặc và chất lượng hơn. </a:t>
                </a:r>
                <a:endParaRPr lang="en-US"/>
              </a:p>
              <a:p>
                <a:endParaRPr lang="en-US"/>
              </a:p>
              <a:p>
                <a:r>
                  <a:rPr lang="vi-VN"/>
                  <a:t>1. Lấy 1 sample (ảnh + task + sub-goal)</a:t>
                </a:r>
              </a:p>
              <a:p>
                <a:r>
                  <a:rPr lang="vi-VN"/>
                  <a:t>2. Tính độ khó của sample (d_i)</a:t>
                </a:r>
              </a:p>
              <a:p>
                <a:r>
                  <a:rPr lang="vi-VN"/>
                  <a:t>3. Quyết định số bước demo cần chèn (l)</a:t>
                </a:r>
              </a:p>
              <a:p>
                <a:r>
                  <a:rPr lang="vi-VN"/>
                  <a:t>4. Tạo input mới = demo prefix + query</a:t>
                </a:r>
              </a:p>
              <a:p>
                <a:r>
                  <a:rPr lang="vi-VN"/>
                  <a:t>5. Feed vào model → train (RL/GRPO)</a:t>
                </a:r>
              </a:p>
              <a:p>
                <a:endParaRPr lang="vi-VN"/>
              </a:p>
            </p:txBody>
          </p:sp>
        </mc:Fallback>
      </mc:AlternateContent>
      <p:sp>
        <p:nvSpPr>
          <p:cNvPr id="4" name="Slide Number Placeholder 3">
            <a:extLst>
              <a:ext uri="{FF2B5EF4-FFF2-40B4-BE49-F238E27FC236}">
                <a16:creationId xmlns:a16="http://schemas.microsoft.com/office/drawing/2014/main" id="{8CC0C582-E683-4F2E-30FC-E1DF3DA9BB66}"/>
              </a:ext>
            </a:extLst>
          </p:cNvPr>
          <p:cNvSpPr>
            <a:spLocks noGrp="1"/>
          </p:cNvSpPr>
          <p:nvPr>
            <p:ph type="sldNum" sz="quarter" idx="5"/>
          </p:nvPr>
        </p:nvSpPr>
        <p:spPr/>
        <p:txBody>
          <a:bodyPr/>
          <a:lstStyle/>
          <a:p>
            <a:fld id="{37C79A95-A3A4-4360-A42D-7FE47A333A7F}" type="slidenum">
              <a:rPr lang="en-US" smtClean="0"/>
              <a:t>5</a:t>
            </a:fld>
            <a:endParaRPr lang="en-US"/>
          </a:p>
        </p:txBody>
      </p:sp>
    </p:spTree>
    <p:extLst>
      <p:ext uri="{BB962C8B-B14F-4D97-AF65-F5344CB8AC3E}">
        <p14:creationId xmlns:p14="http://schemas.microsoft.com/office/powerpoint/2010/main" val="91179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06AC6-45DA-981A-D9BE-66B67CA5A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5A81A-A01F-A096-9C4B-46FA694D1CE4}"/>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3F6F3BE8-1E74-3060-1512-372ADB3E7558}"/>
                  </a:ext>
                </a:extLst>
              </p:cNvPr>
              <p:cNvSpPr>
                <a:spLocks noGrp="1"/>
              </p:cNvSpPr>
              <p:nvPr>
                <p:ph type="body" idx="1"/>
              </p:nvPr>
            </p:nvSpPr>
            <p:spPr/>
            <p:txBody>
              <a:bodyPr/>
              <a:lstStyle/>
              <a:p>
                <a:r>
                  <a:rPr lang="vi-VN"/>
                  <a:t>Mục tiêu cuối cùng kết hợp các chiến lược curriculum trên với framework GRPO.</a:t>
                </a:r>
              </a:p>
              <a:p>
                <a:r>
                  <a:rPr lang="vi-VN"/>
                  <a:t>Trong mỗi bước huấn luyện:</a:t>
                </a:r>
              </a:p>
              <a:p>
                <a:r>
                  <a:rPr lang="vi-VN"/>
                  <a:t>xây dựng mini-batch cân bằng </a:t>
                </a:r>
                <a14:m>
                  <m:oMath xmlns:m="http://schemas.openxmlformats.org/officeDocument/2006/math">
                    <m:r>
                      <a:rPr lang="vi-VN" sz="1200" i="1" kern="1200">
                        <a:solidFill>
                          <a:schemeClr val="tx1"/>
                        </a:solidFill>
                        <a:latin typeface="+mn-lt"/>
                        <a:ea typeface="+mn-ea"/>
                        <a:cs typeface="+mn-cs"/>
                      </a:rPr>
                      <m:t>𝐵</m:t>
                    </m:r>
                  </m:oMath>
                </a14:m>
                <a:endParaRPr lang="vi-VN"/>
              </a:p>
              <a:p>
                <a:r>
                  <a:rPr lang="vi-VN"/>
                  <a:t>với mỗi mẫu </a:t>
                </a:r>
                <a14:m>
                  <m:oMath xmlns:m="http://schemas.openxmlformats.org/officeDocument/2006/math">
                    <m:r>
                      <a:rPr lang="vi-VN" sz="1200" i="1" kern="1200">
                        <a:solidFill>
                          <a:schemeClr val="tx1"/>
                        </a:solidFill>
                        <a:latin typeface="+mn-lt"/>
                        <a:ea typeface="+mn-ea"/>
                        <a:cs typeface="+mn-cs"/>
                      </a:rPr>
                      <m:t>𝑞</m:t>
                    </m:r>
                    <m:r>
                      <a:rPr lang="vi-VN" sz="1200" i="0" kern="1200">
                        <a:solidFill>
                          <a:schemeClr val="tx1"/>
                        </a:solidFill>
                        <a:latin typeface="+mn-lt"/>
                        <a:ea typeface="+mn-ea"/>
                        <a:cs typeface="+mn-cs"/>
                      </a:rPr>
                      <m:t>∈</m:t>
                    </m:r>
                    <m:r>
                      <a:rPr lang="vi-VN" sz="1200" i="1" kern="1200">
                        <a:solidFill>
                          <a:schemeClr val="tx1"/>
                        </a:solidFill>
                        <a:latin typeface="+mn-lt"/>
                        <a:ea typeface="+mn-ea"/>
                        <a:cs typeface="+mn-cs"/>
                      </a:rPr>
                      <m:t>𝐵</m:t>
                    </m:r>
                  </m:oMath>
                </a14:m>
                <a:r>
                  <a:rPr lang="vi-VN"/>
                  <a:t>, tạo context mở rộng </a:t>
                </a:r>
                <a14:m>
                  <m:oMath xmlns:m="http://schemas.openxmlformats.org/officeDocument/2006/math">
                    <m:r>
                      <a:rPr lang="vi-VN" sz="1200" i="1" kern="1200">
                        <a:solidFill>
                          <a:schemeClr val="tx1"/>
                        </a:solidFill>
                        <a:latin typeface="+mn-lt"/>
                        <a:ea typeface="+mn-ea"/>
                        <a:cs typeface="+mn-cs"/>
                      </a:rPr>
                      <m:t>𝑐</m:t>
                    </m:r>
                  </m:oMath>
                </a14:m>
                <a:r>
                  <a:rPr lang="vi-VN"/>
                  <a:t>bằng demonstration injection </a:t>
                </a:r>
              </a:p>
              <a:p>
                <a:r>
                  <a:rPr lang="vi-VN"/>
                  <a:t>Policy được cập nhật bằng cách tối đa hóa mục tiêu GRPO</a:t>
                </a:r>
                <a:r>
                  <a:rPr lang="en-US"/>
                  <a:t> công thức 9</a:t>
                </a:r>
              </a:p>
              <a:p>
                <a:r>
                  <a:rPr lang="vi-VN"/>
                  <a:t>trong đó:</a:t>
                </a:r>
              </a:p>
              <a:p>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𝑟</m:t>
                        </m:r>
                      </m:e>
                      <m:sub>
                        <m:r>
                          <a:rPr lang="ar-AE" sz="1200" i="1" kern="1200">
                            <a:solidFill>
                              <a:schemeClr val="tx1"/>
                            </a:solidFill>
                            <a:latin typeface="+mn-lt"/>
                            <a:ea typeface="+mn-ea"/>
                            <a:cs typeface="+mn-cs"/>
                          </a:rPr>
                          <m:t>𝑖</m:t>
                        </m:r>
                        <m:r>
                          <a:rPr lang="ar-AE" sz="1200" i="0" kern="1200">
                            <a:solidFill>
                              <a:schemeClr val="tx1"/>
                            </a:solidFill>
                            <a:latin typeface="+mn-lt"/>
                            <a:ea typeface="+mn-ea"/>
                            <a:cs typeface="+mn-cs"/>
                          </a:rPr>
                          <m:t>,</m:t>
                        </m:r>
                        <m:r>
                          <a:rPr lang="ar-AE" sz="1200" i="1" kern="1200">
                            <a:solidFill>
                              <a:schemeClr val="tx1"/>
                            </a:solidFill>
                            <a:latin typeface="+mn-lt"/>
                            <a:ea typeface="+mn-ea"/>
                            <a:cs typeface="+mn-cs"/>
                          </a:rPr>
                          <m:t>𝑡</m:t>
                        </m:r>
                      </m:sub>
                    </m:sSub>
                    <m:d>
                      <m:dPr>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𝜃</m:t>
                        </m:r>
                      </m:e>
                    </m:d>
                  </m:oMath>
                </a14:m>
                <a:r>
                  <a:rPr lang="vi-VN"/>
                  <a:t>là tỷ lệ xác suất giữa policy mới và cũ </a:t>
                </a:r>
              </a:p>
              <a:p>
                <a14:m>
                  <m:oMath xmlns:m="http://schemas.openxmlformats.org/officeDocument/2006/math">
                    <m:sSub>
                      <m:sSubPr>
                        <m:ctrlPr>
                          <a:rPr lang="ar-AE" sz="1200" kern="1200">
                            <a:solidFill>
                              <a:schemeClr val="tx1"/>
                            </a:solidFill>
                            <a:latin typeface="+mn-lt"/>
                            <a:ea typeface="+mn-ea"/>
                            <a:cs typeface="+mn-cs"/>
                          </a:rPr>
                        </m:ctrlPr>
                      </m:sSubPr>
                      <m:e>
                        <m:acc>
                          <m:accPr>
                            <m:chr m:val="̂"/>
                            <m:ctrlPr>
                              <a:rPr lang="ar-AE" sz="1200" kern="1200">
                                <a:solidFill>
                                  <a:schemeClr val="tx1"/>
                                </a:solidFill>
                                <a:latin typeface="+mn-lt"/>
                                <a:ea typeface="+mn-ea"/>
                                <a:cs typeface="+mn-cs"/>
                              </a:rPr>
                            </m:ctrlPr>
                          </m:accPr>
                          <m:e>
                            <m:r>
                              <a:rPr lang="ar-AE" sz="1200" i="1" kern="1200">
                                <a:solidFill>
                                  <a:schemeClr val="tx1"/>
                                </a:solidFill>
                                <a:latin typeface="+mn-lt"/>
                                <a:ea typeface="+mn-ea"/>
                                <a:cs typeface="+mn-cs"/>
                              </a:rPr>
                              <m:t>𝐴</m:t>
                            </m:r>
                          </m:e>
                        </m:acc>
                      </m:e>
                      <m:sub>
                        <m:r>
                          <a:rPr lang="ar-AE" sz="1200" i="1" kern="1200">
                            <a:solidFill>
                              <a:schemeClr val="tx1"/>
                            </a:solidFill>
                            <a:latin typeface="+mn-lt"/>
                            <a:ea typeface="+mn-ea"/>
                            <a:cs typeface="+mn-cs"/>
                          </a:rPr>
                          <m:t>𝑖</m:t>
                        </m:r>
                        <m:r>
                          <a:rPr lang="ar-AE" sz="1200" i="0" kern="1200">
                            <a:solidFill>
                              <a:schemeClr val="tx1"/>
                            </a:solidFill>
                            <a:latin typeface="+mn-lt"/>
                            <a:ea typeface="+mn-ea"/>
                            <a:cs typeface="+mn-cs"/>
                          </a:rPr>
                          <m:t>,</m:t>
                        </m:r>
                        <m:r>
                          <a:rPr lang="ar-AE" sz="1200" i="1" kern="1200">
                            <a:solidFill>
                              <a:schemeClr val="tx1"/>
                            </a:solidFill>
                            <a:latin typeface="+mn-lt"/>
                            <a:ea typeface="+mn-ea"/>
                            <a:cs typeface="+mn-cs"/>
                          </a:rPr>
                          <m:t>𝑡</m:t>
                        </m:r>
                      </m:sub>
                    </m:sSub>
                  </m:oMath>
                </a14:m>
                <a:r>
                  <a:rPr lang="vi-VN"/>
                  <a:t>là advantage dựa trên phần thưởng tương đối trong nhóm </a:t>
                </a:r>
              </a:p>
              <a:p>
                <a:r>
                  <a:rPr lang="vi-VN"/>
                  <a:t>Việc tối ưu mục tiêu này giúp C-GRPO học được các kỹ năng thủ tục mạnh mẽ với tín hiệu học dày đặc và giàu thông tin hơn. </a:t>
                </a:r>
              </a:p>
              <a:p>
                <a:endParaRPr lang="vi-VN"/>
              </a:p>
              <a:p>
                <a:endParaRPr lang="vi-VN"/>
              </a:p>
            </p:txBody>
          </p:sp>
        </mc:Choice>
        <mc:Fallback>
          <p:sp>
            <p:nvSpPr>
              <p:cNvPr id="3" name="Notes Placeholder 2">
                <a:extLst>
                  <a:ext uri="{FF2B5EF4-FFF2-40B4-BE49-F238E27FC236}">
                    <a16:creationId xmlns:a16="http://schemas.microsoft.com/office/drawing/2014/main" id="{3F6F3BE8-1E74-3060-1512-372ADB3E7558}"/>
                  </a:ext>
                </a:extLst>
              </p:cNvPr>
              <p:cNvSpPr>
                <a:spLocks noGrp="1"/>
              </p:cNvSpPr>
              <p:nvPr>
                <p:ph type="body" idx="1"/>
              </p:nvPr>
            </p:nvSpPr>
            <p:spPr/>
            <p:txBody>
              <a:bodyPr/>
              <a:lstStyle/>
              <a:p>
                <a:r>
                  <a:rPr lang="vi-VN"/>
                  <a:t>Mục tiêu cuối cùng kết hợp các chiến lược curriculum trên với framework GRPO.</a:t>
                </a:r>
              </a:p>
              <a:p>
                <a:r>
                  <a:rPr lang="vi-VN"/>
                  <a:t>Trong mỗi bước huấn luyện:</a:t>
                </a:r>
              </a:p>
              <a:p>
                <a:r>
                  <a:rPr lang="vi-VN"/>
                  <a:t>xây dựng mini-batch cân bằng </a:t>
                </a:r>
                <a:r>
                  <a:rPr lang="vi-VN" sz="1200" i="0" kern="1200">
                    <a:solidFill>
                      <a:schemeClr val="tx1"/>
                    </a:solidFill>
                    <a:latin typeface="+mn-lt"/>
                    <a:ea typeface="+mn-ea"/>
                    <a:cs typeface="+mn-cs"/>
                  </a:rPr>
                  <a:t>𝐵</a:t>
                </a:r>
                <a:endParaRPr lang="vi-VN"/>
              </a:p>
              <a:p>
                <a:r>
                  <a:rPr lang="vi-VN"/>
                  <a:t>với mỗi mẫu </a:t>
                </a:r>
                <a:r>
                  <a:rPr lang="vi-VN" sz="1200" i="0" kern="1200">
                    <a:solidFill>
                      <a:schemeClr val="tx1"/>
                    </a:solidFill>
                    <a:latin typeface="+mn-lt"/>
                    <a:ea typeface="+mn-ea"/>
                    <a:cs typeface="+mn-cs"/>
                  </a:rPr>
                  <a:t>𝑞∈𝐵</a:t>
                </a:r>
                <a:r>
                  <a:rPr lang="vi-VN"/>
                  <a:t>, tạo context mở rộng </a:t>
                </a:r>
                <a:r>
                  <a:rPr lang="vi-VN" sz="1200" i="0" kern="1200">
                    <a:solidFill>
                      <a:schemeClr val="tx1"/>
                    </a:solidFill>
                    <a:latin typeface="+mn-lt"/>
                    <a:ea typeface="+mn-ea"/>
                    <a:cs typeface="+mn-cs"/>
                  </a:rPr>
                  <a:t>𝑐</a:t>
                </a:r>
                <a:r>
                  <a:rPr lang="vi-VN"/>
                  <a:t>bằng demonstration injection </a:t>
                </a:r>
              </a:p>
              <a:p>
                <a:r>
                  <a:rPr lang="vi-VN"/>
                  <a:t>Policy được cập nhật bằng cách tối đa hóa mục tiêu GRPO</a:t>
                </a:r>
                <a:r>
                  <a:rPr lang="en-US"/>
                  <a:t> công thức 9</a:t>
                </a:r>
              </a:p>
              <a:p>
                <a:r>
                  <a:rPr lang="vi-VN"/>
                  <a:t>trong đó:</a:t>
                </a:r>
              </a:p>
              <a:p>
                <a:r>
                  <a:rPr lang="ar-AE" sz="1200" i="0" kern="1200">
                    <a:solidFill>
                      <a:schemeClr val="tx1"/>
                    </a:solidFill>
                    <a:latin typeface="+mn-lt"/>
                    <a:ea typeface="+mn-ea"/>
                    <a:cs typeface="+mn-cs"/>
                  </a:rPr>
                  <a:t>𝑟_(𝑖,𝑡) (𝜃)</a:t>
                </a:r>
                <a:r>
                  <a:rPr lang="vi-VN"/>
                  <a:t>là tỷ lệ xác suất giữa policy mới và cũ </a:t>
                </a:r>
              </a:p>
              <a:p>
                <a:r>
                  <a:rPr lang="ar-AE" sz="1200" i="0" kern="1200">
                    <a:solidFill>
                      <a:schemeClr val="tx1"/>
                    </a:solidFill>
                    <a:latin typeface="+mn-lt"/>
                    <a:ea typeface="+mn-ea"/>
                    <a:cs typeface="+mn-cs"/>
                  </a:rPr>
                  <a:t>𝐴 ̂_(𝑖,𝑡)</a:t>
                </a:r>
                <a:r>
                  <a:rPr lang="vi-VN"/>
                  <a:t>là advantage dựa trên phần thưởng tương đối trong nhóm </a:t>
                </a:r>
              </a:p>
              <a:p>
                <a:r>
                  <a:rPr lang="vi-VN"/>
                  <a:t>Việc tối ưu mục tiêu này giúp C-GRPO học được các kỹ năng thủ tục mạnh mẽ với tín hiệu học dày đặc và giàu thông tin hơn. </a:t>
                </a:r>
              </a:p>
              <a:p>
                <a:endParaRPr lang="vi-VN"/>
              </a:p>
              <a:p>
                <a:endParaRPr lang="vi-VN"/>
              </a:p>
            </p:txBody>
          </p:sp>
        </mc:Fallback>
      </mc:AlternateContent>
      <p:sp>
        <p:nvSpPr>
          <p:cNvPr id="4" name="Slide Number Placeholder 3">
            <a:extLst>
              <a:ext uri="{FF2B5EF4-FFF2-40B4-BE49-F238E27FC236}">
                <a16:creationId xmlns:a16="http://schemas.microsoft.com/office/drawing/2014/main" id="{4999620C-4B88-328B-2A64-1E1A9064D753}"/>
              </a:ext>
            </a:extLst>
          </p:cNvPr>
          <p:cNvSpPr>
            <a:spLocks noGrp="1"/>
          </p:cNvSpPr>
          <p:nvPr>
            <p:ph type="sldNum" sz="quarter" idx="5"/>
          </p:nvPr>
        </p:nvSpPr>
        <p:spPr/>
        <p:txBody>
          <a:bodyPr/>
          <a:lstStyle/>
          <a:p>
            <a:fld id="{37C79A95-A3A4-4360-A42D-7FE47A333A7F}" type="slidenum">
              <a:rPr lang="en-US" smtClean="0"/>
              <a:t>6</a:t>
            </a:fld>
            <a:endParaRPr lang="en-US"/>
          </a:p>
        </p:txBody>
      </p:sp>
    </p:spTree>
    <p:extLst>
      <p:ext uri="{BB962C8B-B14F-4D97-AF65-F5344CB8AC3E}">
        <p14:creationId xmlns:p14="http://schemas.microsoft.com/office/powerpoint/2010/main" val="4097604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30438-E64C-B504-0D2C-4105A58E8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A6DA3-D092-DFBF-D283-267D4D8F5A27}"/>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3C3BA3DC-9C0D-A155-AC3B-9C2C7F1177CA}"/>
                  </a:ext>
                </a:extLst>
              </p:cNvPr>
              <p:cNvSpPr>
                <a:spLocks noGrp="1"/>
              </p:cNvSpPr>
              <p:nvPr>
                <p:ph type="body" idx="1"/>
              </p:nvPr>
            </p:nvSpPr>
            <p:spPr/>
            <p:txBody>
              <a:bodyPr/>
              <a:lstStyle/>
              <a:p>
                <a:r>
                  <a:rPr lang="vi-VN"/>
                  <a:t>Việc huấn luyện bộ thực thi cấp thấp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𝜋</m:t>
                        </m:r>
                      </m:e>
                      <m:sub>
                        <m:r>
                          <a:rPr lang="ar-AE" sz="1200" i="1" kern="1200">
                            <a:solidFill>
                              <a:schemeClr val="tx1"/>
                            </a:solidFill>
                            <a:latin typeface="+mn-lt"/>
                            <a:ea typeface="+mn-ea"/>
                            <a:cs typeface="+mn-cs"/>
                          </a:rPr>
                          <m:t>𝐿</m:t>
                        </m:r>
                      </m:sub>
                    </m:sSub>
                  </m:oMath>
                </a14:m>
                <a:r>
                  <a:rPr lang="vi-VN"/>
                  <a:t>đối mặt với hai thách thức:</a:t>
                </a:r>
                <a:br>
                  <a:rPr lang="vi-VN"/>
                </a:br>
                <a:r>
                  <a:rPr lang="vi-VN"/>
                  <a:t>(i) </a:t>
                </a:r>
                <a:r>
                  <a:rPr lang="vi-VN" b="1"/>
                  <a:t>Mất cân bằng mẫu (Sample Imbalance):</a:t>
                </a:r>
                <a:r>
                  <a:rPr lang="vi-VN"/>
                  <a:t> Dữ liệu huấn luyện thường bị lệch, trong đó các thao tác phổ biến (ví dụ: click) xuất hiện nhiều hơn đáng kể so với các thao tác hiếm (ví dụ: long-press, swipe).</a:t>
                </a:r>
                <a:br>
                  <a:rPr lang="vi-VN"/>
                </a:br>
                <a:r>
                  <a:rPr lang="vi-VN"/>
                  <a:t>(ii) </a:t>
                </a:r>
                <a:r>
                  <a:rPr lang="vi-VN" b="1"/>
                  <a:t>Khám phá kém hiệu quả (Inefficient Exploration):</a:t>
                </a:r>
                <a:r>
                  <a:rPr lang="vi-VN"/>
                  <a:t> Trong các tác vụ dài, không gian hành động rất lớn khiến agent khó tự tìm ra các quỹ đạo thành công thông qua thử-sai.</a:t>
                </a:r>
              </a:p>
            </p:txBody>
          </p:sp>
        </mc:Choice>
        <mc:Fallback>
          <p:sp>
            <p:nvSpPr>
              <p:cNvPr id="3" name="Notes Placeholder 2">
                <a:extLst>
                  <a:ext uri="{FF2B5EF4-FFF2-40B4-BE49-F238E27FC236}">
                    <a16:creationId xmlns:a16="http://schemas.microsoft.com/office/drawing/2014/main" id="{3C3BA3DC-9C0D-A155-AC3B-9C2C7F1177CA}"/>
                  </a:ext>
                </a:extLst>
              </p:cNvPr>
              <p:cNvSpPr>
                <a:spLocks noGrp="1"/>
              </p:cNvSpPr>
              <p:nvPr>
                <p:ph type="body" idx="1"/>
              </p:nvPr>
            </p:nvSpPr>
            <p:spPr/>
            <p:txBody>
              <a:bodyPr/>
              <a:lstStyle/>
              <a:p>
                <a:r>
                  <a:rPr lang="vi-VN"/>
                  <a:t>Việc huấn luyện bộ thực thi cấp thấp </a:t>
                </a:r>
                <a:r>
                  <a:rPr lang="ar-AE" sz="1200" i="0" kern="1200">
                    <a:solidFill>
                      <a:schemeClr val="tx1"/>
                    </a:solidFill>
                    <a:latin typeface="+mn-lt"/>
                    <a:ea typeface="+mn-ea"/>
                    <a:cs typeface="+mn-cs"/>
                  </a:rPr>
                  <a:t>𝜋_𝐿</a:t>
                </a:r>
                <a:r>
                  <a:rPr lang="vi-VN"/>
                  <a:t>đối mặt với hai thách thức:</a:t>
                </a:r>
                <a:br>
                  <a:rPr lang="vi-VN"/>
                </a:br>
                <a:r>
                  <a:rPr lang="vi-VN"/>
                  <a:t>(i) </a:t>
                </a:r>
                <a:r>
                  <a:rPr lang="vi-VN" b="1"/>
                  <a:t>Mất cân bằng mẫu (Sample Imbalance):</a:t>
                </a:r>
                <a:r>
                  <a:rPr lang="vi-VN"/>
                  <a:t> Dữ liệu huấn luyện thường bị lệch, trong đó các thao tác phổ biến (ví dụ: click) xuất hiện nhiều hơn đáng kể so với các thao tác hiếm (ví dụ: long-press, swipe).</a:t>
                </a:r>
                <a:br>
                  <a:rPr lang="vi-VN"/>
                </a:br>
                <a:r>
                  <a:rPr lang="vi-VN"/>
                  <a:t>(ii) </a:t>
                </a:r>
                <a:r>
                  <a:rPr lang="vi-VN" b="1"/>
                  <a:t>Khám phá kém hiệu quả (Inefficient Exploration):</a:t>
                </a:r>
                <a:r>
                  <a:rPr lang="vi-VN"/>
                  <a:t> Trong các tác vụ dài, không gian hành động rất lớn khiến agent khó tự tìm ra các quỹ đạo thành công thông qua thử-sai.</a:t>
                </a:r>
              </a:p>
            </p:txBody>
          </p:sp>
        </mc:Fallback>
      </mc:AlternateContent>
      <p:sp>
        <p:nvSpPr>
          <p:cNvPr id="4" name="Slide Number Placeholder 3">
            <a:extLst>
              <a:ext uri="{FF2B5EF4-FFF2-40B4-BE49-F238E27FC236}">
                <a16:creationId xmlns:a16="http://schemas.microsoft.com/office/drawing/2014/main" id="{A5F65FAD-F9A9-6C54-9FBC-6F9A1F3CC665}"/>
              </a:ext>
            </a:extLst>
          </p:cNvPr>
          <p:cNvSpPr>
            <a:spLocks noGrp="1"/>
          </p:cNvSpPr>
          <p:nvPr>
            <p:ph type="sldNum" sz="quarter" idx="5"/>
          </p:nvPr>
        </p:nvSpPr>
        <p:spPr/>
        <p:txBody>
          <a:bodyPr/>
          <a:lstStyle/>
          <a:p>
            <a:fld id="{37C79A95-A3A4-4360-A42D-7FE47A333A7F}" type="slidenum">
              <a:rPr lang="en-US" smtClean="0"/>
              <a:t>7</a:t>
            </a:fld>
            <a:endParaRPr lang="en-US"/>
          </a:p>
        </p:txBody>
      </p:sp>
    </p:spTree>
    <p:extLst>
      <p:ext uri="{BB962C8B-B14F-4D97-AF65-F5344CB8AC3E}">
        <p14:creationId xmlns:p14="http://schemas.microsoft.com/office/powerpoint/2010/main" val="2651508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2A789-33F4-A82E-34AB-76E136E08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30ABD-0C01-198A-58C5-78FCA10A6667}"/>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655F3000-F91D-B4E0-7F60-328D0E35D7B7}"/>
                  </a:ext>
                </a:extLst>
              </p:cNvPr>
              <p:cNvSpPr>
                <a:spLocks noGrp="1"/>
              </p:cNvSpPr>
              <p:nvPr>
                <p:ph type="body" idx="1"/>
              </p:nvPr>
            </p:nvSpPr>
            <p:spPr/>
            <p:txBody>
              <a:bodyPr/>
              <a:lstStyle/>
              <a:p>
                <a:r>
                  <a:rPr lang="vi-VN"/>
                  <a:t>sử dụng Qwen-2.5-VL-72B làm planner cấp cao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𝜋</m:t>
                        </m:r>
                      </m:e>
                      <m:sub>
                        <m:r>
                          <a:rPr lang="ar-AE" sz="1200" i="1" kern="1200">
                            <a:solidFill>
                              <a:schemeClr val="tx1"/>
                            </a:solidFill>
                            <a:latin typeface="+mn-lt"/>
                            <a:ea typeface="+mn-ea"/>
                            <a:cs typeface="+mn-cs"/>
                          </a:rPr>
                          <m:t>𝐻</m:t>
                        </m:r>
                      </m:sub>
                    </m:sSub>
                  </m:oMath>
                </a14:m>
                <a:r>
                  <a:rPr lang="ar-AE"/>
                  <a:t>) </a:t>
                </a:r>
                <a:r>
                  <a:rPr lang="vi-VN"/>
                  <a:t>trong vòng lặp SRLR không cần huấn luyện, và Qwen-2.5-VL-7B hiệu quả về tham số làm executor cấp thấp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𝜋</m:t>
                        </m:r>
                      </m:e>
                      <m:sub>
                        <m:r>
                          <a:rPr lang="ar-AE" sz="1200" i="1" kern="1200">
                            <a:solidFill>
                              <a:schemeClr val="tx1"/>
                            </a:solidFill>
                            <a:latin typeface="+mn-lt"/>
                            <a:ea typeface="+mn-ea"/>
                            <a:cs typeface="+mn-cs"/>
                          </a:rPr>
                          <m:t>𝐿</m:t>
                        </m:r>
                      </m:sub>
                    </m:sSub>
                  </m:oMath>
                </a14:m>
                <a:r>
                  <a:rPr lang="ar-AE"/>
                  <a:t>), </a:t>
                </a:r>
                <a:r>
                  <a:rPr lang="vi-VN"/>
                  <a:t>được hậu huấn luyện bằng C-GRPO. Cơ sở tri thức của planner (KG) được khởi tạo từ một ví dụ minh họa chuyên gia duy nhất, được chúng tôi ghi lại cho mỗi loại tác vụ thông qua một pipeline thu thập dữ liệu chuyên biệt</a:t>
                </a:r>
                <a:endParaRPr lang="en-US"/>
              </a:p>
              <a:p>
                <a:endParaRPr lang="en-US"/>
              </a:p>
              <a:p>
                <a:r>
                  <a:rPr lang="vi-VN"/>
                  <a:t>Đối với executor dựa trên học, tập huấn luyện C-GRPO được xây dựng từ các mẫu minh họa thu thập trên toàn bộ các tác vụ AndroidWorld, đảm bảo sự tách biệt nghiêm ngặt giữa tập huấn luyện và tập kiểm tra.</a:t>
                </a:r>
                <a:endParaRPr lang="en-US"/>
              </a:p>
              <a:p>
                <a:endParaRPr lang="en-US"/>
              </a:p>
              <a:p>
                <a:r>
                  <a:rPr lang="vi-VN"/>
                  <a:t>Để tiết kiệm tài nguyên tính toán, quá trình đồng tiến hóa của planner và executor được triển khai thông qua một cơ chế cập nhật luân phiên hiệu quả theo dạng </a:t>
                </a:r>
                <a14:m>
                  <m:oMath xmlns:m="http://schemas.openxmlformats.org/officeDocument/2006/math">
                    <m:sSup>
                      <m:sSupPr>
                        <m:ctrlPr>
                          <a:rPr lang="ar-AE" sz="1200" kern="1200">
                            <a:solidFill>
                              <a:schemeClr val="tx1"/>
                            </a:solidFill>
                            <a:latin typeface="+mn-lt"/>
                            <a:ea typeface="+mn-ea"/>
                            <a:cs typeface="+mn-cs"/>
                          </a:rPr>
                        </m:ctrlPr>
                      </m:sSupPr>
                      <m:e>
                        <m:d>
                          <m:dPr>
                            <m:ctrlPr>
                              <a:rPr lang="ar-AE" sz="1200" kern="1200">
                                <a:solidFill>
                                  <a:schemeClr val="tx1"/>
                                </a:solidFill>
                                <a:latin typeface="+mn-lt"/>
                                <a:ea typeface="+mn-ea"/>
                                <a:cs typeface="+mn-cs"/>
                              </a:rPr>
                            </m:ctrlPr>
                          </m:dPr>
                          <m:e>
                            <m:sSub>
                              <m:sSubPr>
                                <m:ctrlPr>
                                  <a:rPr lang="ar-AE" sz="1200" i="1" kern="1200">
                                    <a:solidFill>
                                      <a:schemeClr val="tx1"/>
                                    </a:solidFill>
                                    <a:latin typeface="+mn-lt"/>
                                    <a:ea typeface="+mn-ea"/>
                                    <a:cs typeface="+mn-cs"/>
                                  </a:rPr>
                                </m:ctrlPr>
                              </m:sSubPr>
                              <m:e>
                                <m:r>
                                  <m:rPr>
                                    <m:nor/>
                                  </m:rPr>
                                  <a:rPr lang="vi-VN" sz="1200" b="0" i="1" kern="1200">
                                    <a:solidFill>
                                      <a:schemeClr val="tx1"/>
                                    </a:solidFill>
                                    <a:latin typeface="+mn-lt"/>
                                    <a:ea typeface="+mn-ea"/>
                                    <a:cs typeface="+mn-cs"/>
                                  </a:rPr>
                                  <m:t>SRLR</m:t>
                                </m:r>
                              </m:e>
                              <m:sub>
                                <m:r>
                                  <a:rPr lang="ar-AE" sz="1200" b="0" i="1" kern="1200">
                                    <a:solidFill>
                                      <a:schemeClr val="tx1"/>
                                    </a:solidFill>
                                    <a:latin typeface="+mn-lt"/>
                                    <a:ea typeface="+mn-ea"/>
                                    <a:cs typeface="+mn-cs"/>
                                  </a:rPr>
                                  <m:t>𝐻</m:t>
                                </m:r>
                              </m:sub>
                            </m:sSub>
                          </m:e>
                        </m:d>
                      </m:e>
                      <m:sup>
                        <m:r>
                          <a:rPr lang="ar-AE" sz="1200" b="0" i="1" kern="1200">
                            <a:solidFill>
                              <a:schemeClr val="tx1"/>
                            </a:solidFill>
                            <a:latin typeface="+mn-lt"/>
                            <a:ea typeface="+mn-ea"/>
                            <a:cs typeface="+mn-cs"/>
                          </a:rPr>
                          <m:t>𝑛</m:t>
                        </m:r>
                      </m:sup>
                    </m:sSup>
                    <m:r>
                      <a:rPr lang="ar-AE" sz="1200" b="0" i="0" kern="1200">
                        <a:solidFill>
                          <a:schemeClr val="tx1"/>
                        </a:solidFill>
                        <a:latin typeface="+mn-lt"/>
                        <a:ea typeface="+mn-ea"/>
                        <a:cs typeface="+mn-cs"/>
                      </a:rPr>
                      <m:t>→</m:t>
                    </m:r>
                    <m:sSub>
                      <m:sSubPr>
                        <m:ctrlPr>
                          <a:rPr lang="ar-AE" sz="1200" b="0" i="1" kern="1200">
                            <a:solidFill>
                              <a:schemeClr val="tx1"/>
                            </a:solidFill>
                            <a:latin typeface="+mn-lt"/>
                            <a:ea typeface="+mn-ea"/>
                            <a:cs typeface="+mn-cs"/>
                          </a:rPr>
                        </m:ctrlPr>
                      </m:sSubPr>
                      <m:e>
                        <m:r>
                          <m:rPr>
                            <m:nor/>
                          </m:rPr>
                          <a:rPr lang="vi-VN" sz="1200" b="0" i="1" kern="1200">
                            <a:solidFill>
                              <a:schemeClr val="tx1"/>
                            </a:solidFill>
                            <a:latin typeface="+mn-lt"/>
                            <a:ea typeface="+mn-ea"/>
                            <a:cs typeface="+mn-cs"/>
                          </a:rPr>
                          <m:t>C</m:t>
                        </m:r>
                        <m:r>
                          <m:rPr>
                            <m:nor/>
                          </m:rPr>
                          <a:rPr lang="vi-VN" sz="1200" b="0" i="1" kern="1200">
                            <a:solidFill>
                              <a:schemeClr val="tx1"/>
                            </a:solidFill>
                            <a:latin typeface="+mn-lt"/>
                            <a:ea typeface="+mn-ea"/>
                            <a:cs typeface="+mn-cs"/>
                          </a:rPr>
                          <m:t>−</m:t>
                        </m:r>
                        <m:r>
                          <m:rPr>
                            <m:nor/>
                          </m:rPr>
                          <a:rPr lang="vi-VN" sz="1200" b="0" i="1" kern="1200">
                            <a:solidFill>
                              <a:schemeClr val="tx1"/>
                            </a:solidFill>
                            <a:latin typeface="+mn-lt"/>
                            <a:ea typeface="+mn-ea"/>
                            <a:cs typeface="+mn-cs"/>
                          </a:rPr>
                          <m:t>GRPO</m:t>
                        </m:r>
                      </m:e>
                      <m:sub>
                        <m:r>
                          <a:rPr lang="ar-AE" sz="1200" b="0" i="1" kern="1200">
                            <a:solidFill>
                              <a:schemeClr val="tx1"/>
                            </a:solidFill>
                            <a:latin typeface="+mn-lt"/>
                            <a:ea typeface="+mn-ea"/>
                            <a:cs typeface="+mn-cs"/>
                          </a:rPr>
                          <m:t>𝐿</m:t>
                        </m:r>
                      </m:sub>
                    </m:sSub>
                  </m:oMath>
                </a14:m>
                <a:r>
                  <a:rPr lang="ar-AE"/>
                  <a:t>. </a:t>
                </a:r>
                <a:r>
                  <a:rPr lang="vi-VN"/>
                  <a:t>Trong thí nghiệm của chúng tôi, </a:t>
                </a:r>
                <a14:m>
                  <m:oMath xmlns:m="http://schemas.openxmlformats.org/officeDocument/2006/math">
                    <m:r>
                      <a:rPr lang="vi-VN" sz="1200" i="1" kern="1200">
                        <a:solidFill>
                          <a:schemeClr val="tx1"/>
                        </a:solidFill>
                        <a:latin typeface="+mn-lt"/>
                        <a:ea typeface="+mn-ea"/>
                        <a:cs typeface="+mn-cs"/>
                      </a:rPr>
                      <m:t>𝑛</m:t>
                    </m:r>
                    <m:r>
                      <a:rPr lang="vi-VN" sz="1200" i="0" kern="1200">
                        <a:solidFill>
                          <a:schemeClr val="tx1"/>
                        </a:solidFill>
                        <a:latin typeface="+mn-lt"/>
                        <a:ea typeface="+mn-ea"/>
                        <a:cs typeface="+mn-cs"/>
                      </a:rPr>
                      <m:t>=</m:t>
                    </m:r>
                    <m:r>
                      <a:rPr lang="vi-VN" sz="1200" i="0" kern="1200">
                        <a:solidFill>
                          <a:schemeClr val="tx1"/>
                        </a:solidFill>
                        <a:latin typeface="+mn-lt"/>
                        <a:ea typeface="+mn-ea"/>
                        <a:cs typeface="+mn-cs"/>
                      </a:rPr>
                      <m:t>3</m:t>
                    </m:r>
                  </m:oMath>
                </a14:m>
                <a:r>
                  <a:rPr lang="vi-VN"/>
                  <a:t>, nghĩa là planner trước tiên sẽ tinh chỉnh cơ sở tri thức KG qua nhiều vòng lặp trước khi executor trải qua một giai đoạn huấn luyện chuyên sâu. </a:t>
                </a:r>
                <a:endParaRPr lang="en-US"/>
              </a:p>
              <a:p>
                <a:endParaRPr lang="en-US"/>
              </a:p>
              <a:p>
                <a:r>
                  <a:rPr lang="vi-VN"/>
                  <a:t>Toàn bộ quá trình huấn luyện được thực hiện trên một máy chủ duy nhất với 8 GPU NVIDIA A100 80GB.</a:t>
                </a:r>
              </a:p>
            </p:txBody>
          </p:sp>
        </mc:Choice>
        <mc:Fallback>
          <p:sp>
            <p:nvSpPr>
              <p:cNvPr id="3" name="Notes Placeholder 2">
                <a:extLst>
                  <a:ext uri="{FF2B5EF4-FFF2-40B4-BE49-F238E27FC236}">
                    <a16:creationId xmlns:a16="http://schemas.microsoft.com/office/drawing/2014/main" id="{655F3000-F91D-B4E0-7F60-328D0E35D7B7}"/>
                  </a:ext>
                </a:extLst>
              </p:cNvPr>
              <p:cNvSpPr>
                <a:spLocks noGrp="1"/>
              </p:cNvSpPr>
              <p:nvPr>
                <p:ph type="body" idx="1"/>
              </p:nvPr>
            </p:nvSpPr>
            <p:spPr/>
            <p:txBody>
              <a:bodyPr/>
              <a:lstStyle/>
              <a:p>
                <a:r>
                  <a:rPr lang="vi-VN"/>
                  <a:t>sử dụng Qwen-2.5-VL-72B làm planner cấp cao (</a:t>
                </a:r>
                <a:r>
                  <a:rPr lang="ar-AE" sz="1200" i="0" kern="1200">
                    <a:solidFill>
                      <a:schemeClr val="tx1"/>
                    </a:solidFill>
                    <a:latin typeface="+mn-lt"/>
                    <a:ea typeface="+mn-ea"/>
                    <a:cs typeface="+mn-cs"/>
                  </a:rPr>
                  <a:t>𝜋_𝐻</a:t>
                </a:r>
                <a:r>
                  <a:rPr lang="ar-AE"/>
                  <a:t>) </a:t>
                </a:r>
                <a:r>
                  <a:rPr lang="vi-VN"/>
                  <a:t>trong vòng lặp SRLR không cần huấn luyện, và Qwen-2.5-VL-7B hiệu quả về tham số làm executor cấp thấp (</a:t>
                </a:r>
                <a:r>
                  <a:rPr lang="ar-AE" sz="1200" i="0" kern="1200">
                    <a:solidFill>
                      <a:schemeClr val="tx1"/>
                    </a:solidFill>
                    <a:latin typeface="+mn-lt"/>
                    <a:ea typeface="+mn-ea"/>
                    <a:cs typeface="+mn-cs"/>
                  </a:rPr>
                  <a:t>𝜋_𝐿</a:t>
                </a:r>
                <a:r>
                  <a:rPr lang="ar-AE"/>
                  <a:t>), </a:t>
                </a:r>
                <a:r>
                  <a:rPr lang="vi-VN"/>
                  <a:t>được hậu huấn luyện bằng C-GRPO. Cơ sở tri thức của planner (KG) được khởi tạo từ một ví dụ minh họa chuyên gia duy nhất, được chúng tôi ghi lại cho mỗi loại tác vụ thông qua một pipeline thu thập dữ liệu chuyên biệt</a:t>
                </a:r>
                <a:endParaRPr lang="en-US"/>
              </a:p>
              <a:p>
                <a:endParaRPr lang="en-US"/>
              </a:p>
              <a:p>
                <a:r>
                  <a:rPr lang="vi-VN"/>
                  <a:t>Đối với executor dựa trên học, tập huấn luyện C-GRPO được xây dựng từ các mẫu minh họa thu thập trên toàn bộ các tác vụ AndroidWorld, đảm bảo sự tách biệt nghiêm ngặt giữa tập huấn luyện và tập kiểm tra.</a:t>
                </a:r>
                <a:endParaRPr lang="en-US"/>
              </a:p>
              <a:p>
                <a:endParaRPr lang="en-US"/>
              </a:p>
              <a:p>
                <a:r>
                  <a:rPr lang="vi-VN"/>
                  <a:t>Để tiết kiệm tài nguyên tính toán, quá trình đồng tiến hóa của planner và executor được triển khai thông qua một cơ chế cập nhật luân phiên hiệu quả theo dạng </a:t>
                </a:r>
                <a:r>
                  <a:rPr lang="ar-AE" sz="1200" i="0" kern="1200">
                    <a:solidFill>
                      <a:schemeClr val="tx1"/>
                    </a:solidFill>
                    <a:latin typeface="+mn-lt"/>
                    <a:ea typeface="+mn-ea"/>
                    <a:cs typeface="+mn-cs"/>
                  </a:rPr>
                  <a:t>(〖</a:t>
                </a:r>
                <a:r>
                  <a:rPr lang="vi-VN" sz="1200" b="0" i="0" kern="1200">
                    <a:solidFill>
                      <a:schemeClr val="tx1"/>
                    </a:solidFill>
                    <a:latin typeface="+mn-lt"/>
                    <a:ea typeface="+mn-ea"/>
                    <a:cs typeface="+mn-cs"/>
                  </a:rPr>
                  <a:t>"SRLR</a:t>
                </a:r>
                <a:r>
                  <a:rPr lang="ar-AE" sz="1200" b="0" i="0" kern="1200">
                    <a:solidFill>
                      <a:schemeClr val="tx1"/>
                    </a:solidFill>
                    <a:latin typeface="+mn-lt"/>
                    <a:ea typeface="+mn-ea"/>
                    <a:cs typeface="+mn-cs"/>
                  </a:rPr>
                  <a:t>" 〗_𝐻 )^𝑛→〖</a:t>
                </a:r>
                <a:r>
                  <a:rPr lang="vi-VN" sz="1200" b="0" i="0" kern="1200">
                    <a:solidFill>
                      <a:schemeClr val="tx1"/>
                    </a:solidFill>
                    <a:latin typeface="+mn-lt"/>
                    <a:ea typeface="+mn-ea"/>
                    <a:cs typeface="+mn-cs"/>
                  </a:rPr>
                  <a:t>"C−GRPO</a:t>
                </a:r>
                <a:r>
                  <a:rPr lang="ar-AE" sz="1200" b="0" i="0" kern="1200">
                    <a:solidFill>
                      <a:schemeClr val="tx1"/>
                    </a:solidFill>
                    <a:latin typeface="+mn-lt"/>
                    <a:ea typeface="+mn-ea"/>
                    <a:cs typeface="+mn-cs"/>
                  </a:rPr>
                  <a:t>" 〗_𝐿</a:t>
                </a:r>
                <a:r>
                  <a:rPr lang="ar-AE"/>
                  <a:t>. </a:t>
                </a:r>
                <a:r>
                  <a:rPr lang="vi-VN"/>
                  <a:t>Trong thí nghiệm của chúng tôi, </a:t>
                </a:r>
                <a:r>
                  <a:rPr lang="vi-VN" sz="1200" i="0" kern="1200">
                    <a:solidFill>
                      <a:schemeClr val="tx1"/>
                    </a:solidFill>
                    <a:latin typeface="+mn-lt"/>
                    <a:ea typeface="+mn-ea"/>
                    <a:cs typeface="+mn-cs"/>
                  </a:rPr>
                  <a:t>𝑛=3</a:t>
                </a:r>
                <a:r>
                  <a:rPr lang="vi-VN"/>
                  <a:t>, nghĩa là planner trước tiên sẽ tinh chỉnh cơ sở tri thức KG qua nhiều vòng lặp trước khi executor trải qua một giai đoạn huấn luyện chuyên sâu. </a:t>
                </a:r>
                <a:endParaRPr lang="en-US"/>
              </a:p>
              <a:p>
                <a:endParaRPr lang="en-US"/>
              </a:p>
              <a:p>
                <a:r>
                  <a:rPr lang="vi-VN"/>
                  <a:t>Toàn bộ quá trình huấn luyện được thực hiện trên một máy chủ duy nhất với 8 GPU NVIDIA A100 80GB.</a:t>
                </a:r>
              </a:p>
            </p:txBody>
          </p:sp>
        </mc:Fallback>
      </mc:AlternateContent>
      <p:sp>
        <p:nvSpPr>
          <p:cNvPr id="4" name="Slide Number Placeholder 3">
            <a:extLst>
              <a:ext uri="{FF2B5EF4-FFF2-40B4-BE49-F238E27FC236}">
                <a16:creationId xmlns:a16="http://schemas.microsoft.com/office/drawing/2014/main" id="{6C59D0AA-70C9-18C9-C965-8151C45674FC}"/>
              </a:ext>
            </a:extLst>
          </p:cNvPr>
          <p:cNvSpPr>
            <a:spLocks noGrp="1"/>
          </p:cNvSpPr>
          <p:nvPr>
            <p:ph type="sldNum" sz="quarter" idx="5"/>
          </p:nvPr>
        </p:nvSpPr>
        <p:spPr/>
        <p:txBody>
          <a:bodyPr/>
          <a:lstStyle/>
          <a:p>
            <a:fld id="{37C79A95-A3A4-4360-A42D-7FE47A333A7F}" type="slidenum">
              <a:rPr lang="en-US" smtClean="0"/>
              <a:t>8</a:t>
            </a:fld>
            <a:endParaRPr lang="en-US"/>
          </a:p>
        </p:txBody>
      </p:sp>
    </p:spTree>
    <p:extLst>
      <p:ext uri="{BB962C8B-B14F-4D97-AF65-F5344CB8AC3E}">
        <p14:creationId xmlns:p14="http://schemas.microsoft.com/office/powerpoint/2010/main" val="381749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0B6B7-808D-22D9-9E8B-BFD1A1CED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AECD0-8497-12D3-3A0A-23E81C1F3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5DD24-6B82-4F68-9750-0581E0388953}"/>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151671D4-F1E2-6BF3-1BF5-AC429A6DF334}"/>
              </a:ext>
            </a:extLst>
          </p:cNvPr>
          <p:cNvSpPr>
            <a:spLocks noGrp="1"/>
          </p:cNvSpPr>
          <p:nvPr>
            <p:ph type="sldNum" sz="quarter" idx="5"/>
          </p:nvPr>
        </p:nvSpPr>
        <p:spPr/>
        <p:txBody>
          <a:bodyPr/>
          <a:lstStyle/>
          <a:p>
            <a:fld id="{37C79A95-A3A4-4360-A42D-7FE47A333A7F}" type="slidenum">
              <a:rPr lang="en-US" smtClean="0"/>
              <a:t>9</a:t>
            </a:fld>
            <a:endParaRPr lang="en-US"/>
          </a:p>
        </p:txBody>
      </p:sp>
    </p:spTree>
    <p:extLst>
      <p:ext uri="{BB962C8B-B14F-4D97-AF65-F5344CB8AC3E}">
        <p14:creationId xmlns:p14="http://schemas.microsoft.com/office/powerpoint/2010/main" val="464115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FC9FA-93BE-8C07-1A37-2E475BE71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28EB5-B674-DA06-83B9-36D4EDF34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37D1A-4DC1-EB96-39A2-8D70FC524163}"/>
              </a:ext>
            </a:extLst>
          </p:cNvPr>
          <p:cNvSpPr>
            <a:spLocks noGrp="1"/>
          </p:cNvSpPr>
          <p:nvPr>
            <p:ph type="body" idx="1"/>
          </p:nvPr>
        </p:nvSpPr>
        <p:spPr/>
        <p:txBody>
          <a:bodyPr/>
          <a:lstStyle/>
          <a:p>
            <a:r>
              <a:rPr lang="vi-VN"/>
              <a:t>- K²-Agent là một framework phân cấp tách biệt tri thức khai báo (“biết cái gì”) và tri thức thủ tục (“biết làm thế nào”).</a:t>
            </a:r>
          </a:p>
          <a:p>
            <a:endParaRPr lang="vi-VN"/>
          </a:p>
          <a:p>
            <a:r>
              <a:rPr lang="vi-VN"/>
              <a:t>- Planner cấp cao sử dụng vòng lặp SRLR để chắt lọc và liên tục tinh chỉnh tri thức tác vụ từ một demonstration duy nhất.</a:t>
            </a:r>
          </a:p>
          <a:p>
            <a:endParaRPr lang="vi-VN"/>
          </a:p>
          <a:p>
            <a:r>
              <a:rPr lang="vi-VN"/>
              <a:t>- Executor cấp thấp học các hành động chính xác thông qua thuật toán hậu huấn luyện C-GRPO hiệu quả.</a:t>
            </a:r>
          </a:p>
          <a:p>
            <a:endParaRPr lang="vi-VN"/>
          </a:p>
          <a:p>
            <a:r>
              <a:rPr lang="vi-VN"/>
              <a:t>- K²-Agent đạt hiệu năng SOTA trên AndroidWorld và thể hiện khả năng tổng quát kép mạnh mẽ trên nhiều backbone và benchmark.</a:t>
            </a:r>
          </a:p>
        </p:txBody>
      </p:sp>
      <p:sp>
        <p:nvSpPr>
          <p:cNvPr id="4" name="Slide Number Placeholder 3">
            <a:extLst>
              <a:ext uri="{FF2B5EF4-FFF2-40B4-BE49-F238E27FC236}">
                <a16:creationId xmlns:a16="http://schemas.microsoft.com/office/drawing/2014/main" id="{344A3006-6B72-5573-DDE4-5E8F32B7161C}"/>
              </a:ext>
            </a:extLst>
          </p:cNvPr>
          <p:cNvSpPr>
            <a:spLocks noGrp="1"/>
          </p:cNvSpPr>
          <p:nvPr>
            <p:ph type="sldNum" sz="quarter" idx="5"/>
          </p:nvPr>
        </p:nvSpPr>
        <p:spPr/>
        <p:txBody>
          <a:bodyPr/>
          <a:lstStyle/>
          <a:p>
            <a:fld id="{37C79A95-A3A4-4360-A42D-7FE47A333A7F}" type="slidenum">
              <a:rPr lang="en-US" smtClean="0"/>
              <a:t>10</a:t>
            </a:fld>
            <a:endParaRPr lang="en-US"/>
          </a:p>
        </p:txBody>
      </p:sp>
    </p:spTree>
    <p:extLst>
      <p:ext uri="{BB962C8B-B14F-4D97-AF65-F5344CB8AC3E}">
        <p14:creationId xmlns:p14="http://schemas.microsoft.com/office/powerpoint/2010/main" val="2434002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5F3DF-F1DE-3311-0F76-6BD9F7CD78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E08571-DF62-846F-06B0-7F437FB1C0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00C96A-1258-EF29-5995-BCB249E9A8A3}"/>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5" name="Footer Placeholder 4">
            <a:extLst>
              <a:ext uri="{FF2B5EF4-FFF2-40B4-BE49-F238E27FC236}">
                <a16:creationId xmlns:a16="http://schemas.microsoft.com/office/drawing/2014/main" id="{27A333C1-E8FD-C3F0-DB70-F9F2D641A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D06CA-C55B-C5F7-6554-4AEA6749DF8C}"/>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1186366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424C7-C7D7-522D-7A8A-531E12E8EA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E776BC-8159-33B5-6095-918529ACD6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A343D5-ADB2-8CCD-4E8A-08E0C9070198}"/>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5" name="Footer Placeholder 4">
            <a:extLst>
              <a:ext uri="{FF2B5EF4-FFF2-40B4-BE49-F238E27FC236}">
                <a16:creationId xmlns:a16="http://schemas.microsoft.com/office/drawing/2014/main" id="{D9E1B346-5910-9A0B-9F7A-B491A9F288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078153-6DD6-1143-7D57-1EB1FF31EB18}"/>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3157103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C4C2C-B44C-AAEE-320A-72D58FA372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4BC135-F784-1B72-4874-72E5F1F429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9DD96C-4C12-390E-DC9E-67360BBEE4C2}"/>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5" name="Footer Placeholder 4">
            <a:extLst>
              <a:ext uri="{FF2B5EF4-FFF2-40B4-BE49-F238E27FC236}">
                <a16:creationId xmlns:a16="http://schemas.microsoft.com/office/drawing/2014/main" id="{D8AD93C3-5858-1242-6112-10D42C1592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DC91D-F9E4-5624-C85E-448B76C7DE01}"/>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1488412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0AA31-B3B3-4257-BA17-E6BECC917E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409B7B-80C8-2C76-0B9A-38F8330A63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4B7E3F-6B56-0C87-2541-29875E7B26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825BE7-4054-5EDB-A9AF-12D61AFB8DE6}"/>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6" name="Footer Placeholder 5">
            <a:extLst>
              <a:ext uri="{FF2B5EF4-FFF2-40B4-BE49-F238E27FC236}">
                <a16:creationId xmlns:a16="http://schemas.microsoft.com/office/drawing/2014/main" id="{B3642F34-8FFA-74D9-5BB0-0B54D58415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2E45D1-D097-D9CA-086E-E21AC9F60C7E}"/>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4007940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E5BE9-6F7E-FD5B-3EA3-B994C002A8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5EB323-8A4C-82C7-8AFD-C4C6399506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B66422-2614-2CFF-E756-F9943DC22F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9E0EB0-AB25-8547-3DDC-DD78F91A60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ED594D-B458-3F94-3869-2C08A0BD0D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55E47C-9B19-6BC5-4DB9-1904A88EA505}"/>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8" name="Footer Placeholder 7">
            <a:extLst>
              <a:ext uri="{FF2B5EF4-FFF2-40B4-BE49-F238E27FC236}">
                <a16:creationId xmlns:a16="http://schemas.microsoft.com/office/drawing/2014/main" id="{0D45D7AF-2ACC-55A7-AE12-C64A97FB1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BE9671-0AF2-BC85-383D-7458D031C01B}"/>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4040825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AD06B-C55D-D402-6B0B-A02F89E5E8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31D542-28DB-6FDC-2EF8-3575560D78CF}"/>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4" name="Footer Placeholder 3">
            <a:extLst>
              <a:ext uri="{FF2B5EF4-FFF2-40B4-BE49-F238E27FC236}">
                <a16:creationId xmlns:a16="http://schemas.microsoft.com/office/drawing/2014/main" id="{FBFC94CA-7A72-72C6-142A-B1D233F6CF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26517B-55E6-1950-A3B7-52DC1D3D0BEF}"/>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2926276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EF6114-AF8C-8735-2182-C4A9CA0395A6}"/>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3" name="Footer Placeholder 2">
            <a:extLst>
              <a:ext uri="{FF2B5EF4-FFF2-40B4-BE49-F238E27FC236}">
                <a16:creationId xmlns:a16="http://schemas.microsoft.com/office/drawing/2014/main" id="{D38BF5C6-887D-E3F4-3E42-7C5457A640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89E437-FA6C-5F5B-2C01-5083CBEC9868}"/>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3809419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6A12C-B4F4-D937-4046-270A325534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A12F69-9965-2BFA-641D-C3042E359A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C9E31E-D0D6-622E-F454-837D91A7E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9EF07E-4BED-6233-A988-E7B5EFE1896A}"/>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6" name="Footer Placeholder 5">
            <a:extLst>
              <a:ext uri="{FF2B5EF4-FFF2-40B4-BE49-F238E27FC236}">
                <a16:creationId xmlns:a16="http://schemas.microsoft.com/office/drawing/2014/main" id="{3FB0A8E8-F678-72D8-8DBF-0C3B635F8A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EB965A-21EC-516B-B1BF-DD779CF7A0FE}"/>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3603977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E82E9-7388-E2BC-E36C-EF0430FFFC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26A809-7732-E513-1EF3-71F53E8DCA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44540B-1388-5952-5775-A9911CD46B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4C9B47-FAEE-F916-2BC5-8DEA423A805D}"/>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6" name="Footer Placeholder 5">
            <a:extLst>
              <a:ext uri="{FF2B5EF4-FFF2-40B4-BE49-F238E27FC236}">
                <a16:creationId xmlns:a16="http://schemas.microsoft.com/office/drawing/2014/main" id="{797CADA7-1263-191E-36A1-7F66143CF8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2BFAD1-1780-E212-7FAB-680B00D8173C}"/>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2686906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89084-C89A-D175-B6A3-A8C12ADFFF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779639-AC61-82E8-0A94-67FFADA5F6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8F1BB8-E807-8FB5-71E4-D369DBCA727B}"/>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5" name="Footer Placeholder 4">
            <a:extLst>
              <a:ext uri="{FF2B5EF4-FFF2-40B4-BE49-F238E27FC236}">
                <a16:creationId xmlns:a16="http://schemas.microsoft.com/office/drawing/2014/main" id="{DB6FB9B5-42FF-3B97-82CE-BCD569A3B1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78D08-FDB3-444E-CB89-3CC3B383D3D0}"/>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754433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63F15E-BCE5-E019-4F93-25D7AB976B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F70ECF-8E54-4A0A-6218-0BFF4814AC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87FCE6-51DC-CF43-9605-9188E779AA83}"/>
              </a:ext>
            </a:extLst>
          </p:cNvPr>
          <p:cNvSpPr>
            <a:spLocks noGrp="1"/>
          </p:cNvSpPr>
          <p:nvPr>
            <p:ph type="dt" sz="half" idx="10"/>
          </p:nvPr>
        </p:nvSpPr>
        <p:spPr/>
        <p:txBody>
          <a:bodyPr/>
          <a:lstStyle/>
          <a:p>
            <a:fld id="{A4E0A244-10CB-4657-9469-870B31EC2A93}" type="datetimeFigureOut">
              <a:rPr lang="en-US" smtClean="0"/>
              <a:t>5/4/2026</a:t>
            </a:fld>
            <a:endParaRPr lang="en-US"/>
          </a:p>
        </p:txBody>
      </p:sp>
      <p:sp>
        <p:nvSpPr>
          <p:cNvPr id="5" name="Footer Placeholder 4">
            <a:extLst>
              <a:ext uri="{FF2B5EF4-FFF2-40B4-BE49-F238E27FC236}">
                <a16:creationId xmlns:a16="http://schemas.microsoft.com/office/drawing/2014/main" id="{89AFCEAF-E889-1E71-8D1C-84ED08E4A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4A1E6-93E6-CC55-5F30-AF4E715BB58F}"/>
              </a:ext>
            </a:extLst>
          </p:cNvPr>
          <p:cNvSpPr>
            <a:spLocks noGrp="1"/>
          </p:cNvSpPr>
          <p:nvPr>
            <p:ph type="sldNum" sz="quarter" idx="12"/>
          </p:nvPr>
        </p:nvSpPr>
        <p:spPr/>
        <p:txBody>
          <a:bodyPr/>
          <a:lstStyle/>
          <a:p>
            <a:fld id="{9A608892-B87A-46B5-87D8-354D48C173A1}" type="slidenum">
              <a:rPr lang="en-US" smtClean="0"/>
              <a:t>‹#›</a:t>
            </a:fld>
            <a:endParaRPr lang="en-US"/>
          </a:p>
        </p:txBody>
      </p:sp>
    </p:spTree>
    <p:extLst>
      <p:ext uri="{BB962C8B-B14F-4D97-AF65-F5344CB8AC3E}">
        <p14:creationId xmlns:p14="http://schemas.microsoft.com/office/powerpoint/2010/main" val="4288669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267452-B77A-789B-4998-8C529119B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E57A7C-FC82-5610-57F7-EEEBCEDE17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6752DC-8148-AE5C-DCF0-728DCB2227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E0A244-10CB-4657-9469-870B31EC2A93}" type="datetimeFigureOut">
              <a:rPr lang="en-US" smtClean="0"/>
              <a:t>5/4/2026</a:t>
            </a:fld>
            <a:endParaRPr lang="en-US"/>
          </a:p>
        </p:txBody>
      </p:sp>
      <p:sp>
        <p:nvSpPr>
          <p:cNvPr id="5" name="Footer Placeholder 4">
            <a:extLst>
              <a:ext uri="{FF2B5EF4-FFF2-40B4-BE49-F238E27FC236}">
                <a16:creationId xmlns:a16="http://schemas.microsoft.com/office/drawing/2014/main" id="{5B5EE6BE-8FB4-DDA5-3D6C-251D5E3D12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F41834B-CF2C-C22A-9CCB-9F7DB8C07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608892-B87A-46B5-87D8-354D48C173A1}" type="slidenum">
              <a:rPr lang="en-US" smtClean="0"/>
              <a:t>‹#›</a:t>
            </a:fld>
            <a:endParaRPr lang="en-US"/>
          </a:p>
        </p:txBody>
      </p:sp>
    </p:spTree>
    <p:extLst>
      <p:ext uri="{BB962C8B-B14F-4D97-AF65-F5344CB8AC3E}">
        <p14:creationId xmlns:p14="http://schemas.microsoft.com/office/powerpoint/2010/main" val="2163989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946CCBE-929F-3ED9-B932-A8D131FA606F}"/>
              </a:ext>
            </a:extLst>
          </p:cNvPr>
          <p:cNvSpPr>
            <a:spLocks noGrp="1"/>
          </p:cNvSpPr>
          <p:nvPr>
            <p:ph type="subTitle" idx="1"/>
          </p:nvPr>
        </p:nvSpPr>
        <p:spPr>
          <a:xfrm>
            <a:off x="446314" y="217714"/>
            <a:ext cx="9144000" cy="511629"/>
          </a:xfrm>
        </p:spPr>
        <p:txBody>
          <a:bodyPr/>
          <a:lstStyle/>
          <a:p>
            <a:pPr algn="l"/>
            <a:r>
              <a:rPr lang="en-US"/>
              <a:t>I. Introduction</a:t>
            </a:r>
          </a:p>
        </p:txBody>
      </p:sp>
      <p:sp>
        <p:nvSpPr>
          <p:cNvPr id="4" name="Subtitle 2">
            <a:extLst>
              <a:ext uri="{FF2B5EF4-FFF2-40B4-BE49-F238E27FC236}">
                <a16:creationId xmlns:a16="http://schemas.microsoft.com/office/drawing/2014/main" id="{A779FDBA-E38E-1F17-6F57-1CF01DBE5550}"/>
              </a:ext>
            </a:extLst>
          </p:cNvPr>
          <p:cNvSpPr txBox="1">
            <a:spLocks/>
          </p:cNvSpPr>
          <p:nvPr/>
        </p:nvSpPr>
        <p:spPr>
          <a:xfrm>
            <a:off x="446314" y="903514"/>
            <a:ext cx="10769554" cy="5300516"/>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 Human intelligence consists of two types of knowledge: declarative (know-what) and procedural (know-how), which work together to solve complex tasks.</a:t>
            </a:r>
          </a:p>
          <a:p>
            <a:pPr algn="l"/>
            <a:endParaRPr lang="en-US"/>
          </a:p>
          <a:p>
            <a:pPr algn="l"/>
            <a:r>
              <a:rPr lang="en-US"/>
              <a:t>- In mobile device control, declarative knowledge determines what to do, while procedural knowledge ensures accurate execution of actions like clicking, swiping, and typing.</a:t>
            </a:r>
          </a:p>
          <a:p>
            <a:pPr algn="l"/>
            <a:endParaRPr lang="en-US"/>
          </a:p>
          <a:p>
            <a:pPr algn="l"/>
            <a:r>
              <a:rPr lang="en-US"/>
              <a:t>- Existing approaches include training-free agents (prompt-based) and learning-based agents (SFT/RL), both having limitations in performance and generalization.</a:t>
            </a:r>
          </a:p>
          <a:p>
            <a:pPr algn="l"/>
            <a:endParaRPr lang="en-US"/>
          </a:p>
          <a:p>
            <a:pPr algn="l"/>
            <a:r>
              <a:rPr lang="en-US"/>
              <a:t>- K²-Agent is proposed as a hierarchical planner–executor framework that decouples and co-evolves declarative and procedural knowledge using SRLR and C-GRPO.</a:t>
            </a:r>
          </a:p>
          <a:p>
            <a:pPr algn="l"/>
            <a:endParaRPr lang="en-US"/>
          </a:p>
          <a:p>
            <a:pPr algn="l"/>
            <a:r>
              <a:rPr lang="en-US"/>
              <a:t>- K²-Agent achieves 76.1% success rate on AndroidWorld and demonstrates strong dual generalization across backbones and benchmarks such as AitW and ScreenSpot-v2.</a:t>
            </a:r>
          </a:p>
        </p:txBody>
      </p:sp>
    </p:spTree>
    <p:extLst>
      <p:ext uri="{BB962C8B-B14F-4D97-AF65-F5344CB8AC3E}">
        <p14:creationId xmlns:p14="http://schemas.microsoft.com/office/powerpoint/2010/main" val="2782332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A17B9-55DE-122D-12E2-97A23ABEF08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71801AC-F900-8ED6-0820-40F1FC442121}"/>
              </a:ext>
            </a:extLst>
          </p:cNvPr>
          <p:cNvSpPr>
            <a:spLocks noGrp="1"/>
          </p:cNvSpPr>
          <p:nvPr>
            <p:ph type="subTitle" idx="1"/>
          </p:nvPr>
        </p:nvSpPr>
        <p:spPr>
          <a:xfrm>
            <a:off x="446314" y="217714"/>
            <a:ext cx="9144000" cy="511629"/>
          </a:xfrm>
        </p:spPr>
        <p:txBody>
          <a:bodyPr/>
          <a:lstStyle/>
          <a:p>
            <a:pPr algn="l"/>
            <a:r>
              <a:rPr lang="en-US"/>
              <a:t>II. Method</a:t>
            </a:r>
          </a:p>
        </p:txBody>
      </p:sp>
      <p:pic>
        <p:nvPicPr>
          <p:cNvPr id="5" name="Picture 4">
            <a:extLst>
              <a:ext uri="{FF2B5EF4-FFF2-40B4-BE49-F238E27FC236}">
                <a16:creationId xmlns:a16="http://schemas.microsoft.com/office/drawing/2014/main" id="{C926DB63-405C-18FB-CF71-26D763E89F79}"/>
              </a:ext>
            </a:extLst>
          </p:cNvPr>
          <p:cNvPicPr>
            <a:picLocks noChangeAspect="1"/>
          </p:cNvPicPr>
          <p:nvPr/>
        </p:nvPicPr>
        <p:blipFill>
          <a:blip r:embed="rId3"/>
          <a:stretch>
            <a:fillRect/>
          </a:stretch>
        </p:blipFill>
        <p:spPr>
          <a:xfrm>
            <a:off x="732676" y="1085523"/>
            <a:ext cx="10726647" cy="4686954"/>
          </a:xfrm>
          <a:prstGeom prst="rect">
            <a:avLst/>
          </a:prstGeom>
        </p:spPr>
      </p:pic>
    </p:spTree>
    <p:extLst>
      <p:ext uri="{BB962C8B-B14F-4D97-AF65-F5344CB8AC3E}">
        <p14:creationId xmlns:p14="http://schemas.microsoft.com/office/powerpoint/2010/main" val="1547976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55092-E00D-8258-C3EF-C66A2390763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48EB20B-239F-CC56-7D7B-A209BF530EDB}"/>
              </a:ext>
            </a:extLst>
          </p:cNvPr>
          <p:cNvSpPr>
            <a:spLocks noGrp="1"/>
          </p:cNvSpPr>
          <p:nvPr>
            <p:ph type="subTitle" idx="1"/>
          </p:nvPr>
        </p:nvSpPr>
        <p:spPr>
          <a:xfrm>
            <a:off x="446314" y="217714"/>
            <a:ext cx="9144000" cy="511629"/>
          </a:xfrm>
        </p:spPr>
        <p:txBody>
          <a:bodyPr/>
          <a:lstStyle/>
          <a:p>
            <a:pPr algn="l"/>
            <a:r>
              <a:rPr lang="en-US"/>
              <a:t>II. Method</a:t>
            </a:r>
          </a:p>
        </p:txBody>
      </p:sp>
      <p:sp>
        <p:nvSpPr>
          <p:cNvPr id="2" name="Subtitle 2">
            <a:extLst>
              <a:ext uri="{FF2B5EF4-FFF2-40B4-BE49-F238E27FC236}">
                <a16:creationId xmlns:a16="http://schemas.microsoft.com/office/drawing/2014/main" id="{AEE755FC-C52F-F49B-0A9F-810E522EE7A4}"/>
              </a:ext>
            </a:extLst>
          </p:cNvPr>
          <p:cNvSpPr txBox="1">
            <a:spLocks/>
          </p:cNvSpPr>
          <p:nvPr/>
        </p:nvSpPr>
        <p:spPr>
          <a:xfrm>
            <a:off x="446314" y="811695"/>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1. HIGH-LEVEL PLANNER</a:t>
            </a:r>
          </a:p>
        </p:txBody>
      </p:sp>
      <p:pic>
        <p:nvPicPr>
          <p:cNvPr id="8" name="Picture 7">
            <a:extLst>
              <a:ext uri="{FF2B5EF4-FFF2-40B4-BE49-F238E27FC236}">
                <a16:creationId xmlns:a16="http://schemas.microsoft.com/office/drawing/2014/main" id="{F131493E-5255-CCDA-CEEE-C4ACDE0593B1}"/>
              </a:ext>
            </a:extLst>
          </p:cNvPr>
          <p:cNvPicPr>
            <a:picLocks noChangeAspect="1"/>
          </p:cNvPicPr>
          <p:nvPr/>
        </p:nvPicPr>
        <p:blipFill>
          <a:blip r:embed="rId3"/>
          <a:stretch>
            <a:fillRect/>
          </a:stretch>
        </p:blipFill>
        <p:spPr>
          <a:xfrm>
            <a:off x="1152859" y="1213994"/>
            <a:ext cx="10039136" cy="5426292"/>
          </a:xfrm>
          <a:prstGeom prst="rect">
            <a:avLst/>
          </a:prstGeom>
        </p:spPr>
      </p:pic>
    </p:spTree>
    <p:extLst>
      <p:ext uri="{BB962C8B-B14F-4D97-AF65-F5344CB8AC3E}">
        <p14:creationId xmlns:p14="http://schemas.microsoft.com/office/powerpoint/2010/main" val="3045290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7A777-45E8-BE30-0AD7-0F79A1EA9BE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C887896-CB7F-1BC0-B05B-CB725CC778CE}"/>
              </a:ext>
            </a:extLst>
          </p:cNvPr>
          <p:cNvSpPr>
            <a:spLocks noGrp="1"/>
          </p:cNvSpPr>
          <p:nvPr>
            <p:ph type="subTitle" idx="1"/>
          </p:nvPr>
        </p:nvSpPr>
        <p:spPr>
          <a:xfrm>
            <a:off x="446314" y="217714"/>
            <a:ext cx="9144000" cy="511629"/>
          </a:xfrm>
        </p:spPr>
        <p:txBody>
          <a:bodyPr/>
          <a:lstStyle/>
          <a:p>
            <a:pPr algn="l"/>
            <a:r>
              <a:rPr lang="en-US"/>
              <a:t>II. Method</a:t>
            </a:r>
          </a:p>
        </p:txBody>
      </p:sp>
      <p:sp>
        <p:nvSpPr>
          <p:cNvPr id="2" name="Subtitle 2">
            <a:extLst>
              <a:ext uri="{FF2B5EF4-FFF2-40B4-BE49-F238E27FC236}">
                <a16:creationId xmlns:a16="http://schemas.microsoft.com/office/drawing/2014/main" id="{1457CEC5-7E02-40E2-DD33-544251D297C9}"/>
              </a:ext>
            </a:extLst>
          </p:cNvPr>
          <p:cNvSpPr txBox="1">
            <a:spLocks/>
          </p:cNvSpPr>
          <p:nvPr/>
        </p:nvSpPr>
        <p:spPr>
          <a:xfrm>
            <a:off x="446314" y="811695"/>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2. LOW-LEVEL EXECUTOR</a:t>
            </a:r>
          </a:p>
        </p:txBody>
      </p:sp>
      <p:pic>
        <p:nvPicPr>
          <p:cNvPr id="5" name="Picture 4">
            <a:extLst>
              <a:ext uri="{FF2B5EF4-FFF2-40B4-BE49-F238E27FC236}">
                <a16:creationId xmlns:a16="http://schemas.microsoft.com/office/drawing/2014/main" id="{F02D9468-C99C-848F-821F-B84A4F49D4AD}"/>
              </a:ext>
            </a:extLst>
          </p:cNvPr>
          <p:cNvPicPr>
            <a:picLocks noChangeAspect="1"/>
          </p:cNvPicPr>
          <p:nvPr/>
        </p:nvPicPr>
        <p:blipFill>
          <a:blip r:embed="rId3"/>
          <a:stretch>
            <a:fillRect/>
          </a:stretch>
        </p:blipFill>
        <p:spPr>
          <a:xfrm>
            <a:off x="1292682" y="2236395"/>
            <a:ext cx="9532496" cy="548230"/>
          </a:xfrm>
          <a:prstGeom prst="rect">
            <a:avLst/>
          </a:prstGeom>
        </p:spPr>
      </p:pic>
      <p:sp>
        <p:nvSpPr>
          <p:cNvPr id="6" name="Subtitle 2">
            <a:extLst>
              <a:ext uri="{FF2B5EF4-FFF2-40B4-BE49-F238E27FC236}">
                <a16:creationId xmlns:a16="http://schemas.microsoft.com/office/drawing/2014/main" id="{467723A4-D35E-BF1D-0542-BF60748D5D6D}"/>
              </a:ext>
            </a:extLst>
          </p:cNvPr>
          <p:cNvSpPr txBox="1">
            <a:spLocks/>
          </p:cNvSpPr>
          <p:nvPr/>
        </p:nvSpPr>
        <p:spPr>
          <a:xfrm>
            <a:off x="446314" y="1384317"/>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ERROR-DECOUPLED REPLAY BALANCING</a:t>
            </a:r>
          </a:p>
        </p:txBody>
      </p:sp>
      <p:pic>
        <p:nvPicPr>
          <p:cNvPr id="9" name="Picture 8">
            <a:extLst>
              <a:ext uri="{FF2B5EF4-FFF2-40B4-BE49-F238E27FC236}">
                <a16:creationId xmlns:a16="http://schemas.microsoft.com/office/drawing/2014/main" id="{5D2ADCDF-5C91-F64C-4DC7-8D7D8C6B11C4}"/>
              </a:ext>
            </a:extLst>
          </p:cNvPr>
          <p:cNvPicPr>
            <a:picLocks noChangeAspect="1"/>
          </p:cNvPicPr>
          <p:nvPr/>
        </p:nvPicPr>
        <p:blipFill>
          <a:blip r:embed="rId4"/>
          <a:stretch>
            <a:fillRect/>
          </a:stretch>
        </p:blipFill>
        <p:spPr>
          <a:xfrm>
            <a:off x="1242597" y="2909654"/>
            <a:ext cx="9371858" cy="1862356"/>
          </a:xfrm>
          <a:prstGeom prst="rect">
            <a:avLst/>
          </a:prstGeom>
        </p:spPr>
      </p:pic>
    </p:spTree>
    <p:extLst>
      <p:ext uri="{BB962C8B-B14F-4D97-AF65-F5344CB8AC3E}">
        <p14:creationId xmlns:p14="http://schemas.microsoft.com/office/powerpoint/2010/main" val="1828550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481E3-2DA2-195E-1B62-EC8E63D2DAA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4BA64C6-5F27-DA68-FC66-A2C6A2064A73}"/>
              </a:ext>
            </a:extLst>
          </p:cNvPr>
          <p:cNvSpPr>
            <a:spLocks noGrp="1"/>
          </p:cNvSpPr>
          <p:nvPr>
            <p:ph type="subTitle" idx="1"/>
          </p:nvPr>
        </p:nvSpPr>
        <p:spPr>
          <a:xfrm>
            <a:off x="446314" y="217714"/>
            <a:ext cx="9144000" cy="511629"/>
          </a:xfrm>
        </p:spPr>
        <p:txBody>
          <a:bodyPr/>
          <a:lstStyle/>
          <a:p>
            <a:pPr algn="l"/>
            <a:r>
              <a:rPr lang="en-US"/>
              <a:t>II. Method</a:t>
            </a:r>
          </a:p>
        </p:txBody>
      </p:sp>
      <p:sp>
        <p:nvSpPr>
          <p:cNvPr id="2" name="Subtitle 2">
            <a:extLst>
              <a:ext uri="{FF2B5EF4-FFF2-40B4-BE49-F238E27FC236}">
                <a16:creationId xmlns:a16="http://schemas.microsoft.com/office/drawing/2014/main" id="{FD70DCF0-BC2F-142A-1824-9C25B2597472}"/>
              </a:ext>
            </a:extLst>
          </p:cNvPr>
          <p:cNvSpPr txBox="1">
            <a:spLocks/>
          </p:cNvSpPr>
          <p:nvPr/>
        </p:nvSpPr>
        <p:spPr>
          <a:xfrm>
            <a:off x="446314" y="811695"/>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2. LOW-LEVEL EXECUTOR</a:t>
            </a:r>
          </a:p>
        </p:txBody>
      </p:sp>
      <p:sp>
        <p:nvSpPr>
          <p:cNvPr id="6" name="Subtitle 2">
            <a:extLst>
              <a:ext uri="{FF2B5EF4-FFF2-40B4-BE49-F238E27FC236}">
                <a16:creationId xmlns:a16="http://schemas.microsoft.com/office/drawing/2014/main" id="{6FC13FD3-0246-4067-7B64-860BB90101F3}"/>
              </a:ext>
            </a:extLst>
          </p:cNvPr>
          <p:cNvSpPr txBox="1">
            <a:spLocks/>
          </p:cNvSpPr>
          <p:nvPr/>
        </p:nvSpPr>
        <p:spPr>
          <a:xfrm>
            <a:off x="446314" y="1384317"/>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DYNAMIC DEMONSTRATION INJECTION</a:t>
            </a:r>
          </a:p>
        </p:txBody>
      </p:sp>
      <p:pic>
        <p:nvPicPr>
          <p:cNvPr id="7" name="Picture 6">
            <a:extLst>
              <a:ext uri="{FF2B5EF4-FFF2-40B4-BE49-F238E27FC236}">
                <a16:creationId xmlns:a16="http://schemas.microsoft.com/office/drawing/2014/main" id="{6395E05F-0903-C47F-5BAB-07FA345A32DE}"/>
              </a:ext>
            </a:extLst>
          </p:cNvPr>
          <p:cNvPicPr>
            <a:picLocks noChangeAspect="1"/>
          </p:cNvPicPr>
          <p:nvPr/>
        </p:nvPicPr>
        <p:blipFill>
          <a:blip r:embed="rId3"/>
          <a:stretch>
            <a:fillRect/>
          </a:stretch>
        </p:blipFill>
        <p:spPr>
          <a:xfrm>
            <a:off x="2545299" y="2076938"/>
            <a:ext cx="6458851" cy="381053"/>
          </a:xfrm>
          <a:prstGeom prst="rect">
            <a:avLst/>
          </a:prstGeom>
        </p:spPr>
      </p:pic>
    </p:spTree>
    <p:extLst>
      <p:ext uri="{BB962C8B-B14F-4D97-AF65-F5344CB8AC3E}">
        <p14:creationId xmlns:p14="http://schemas.microsoft.com/office/powerpoint/2010/main" val="1350917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CAEEB-DB57-747C-4511-A9A20A536B3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BE95797-EC1F-C6F7-D3C3-3D8C463423B5}"/>
              </a:ext>
            </a:extLst>
          </p:cNvPr>
          <p:cNvSpPr>
            <a:spLocks noGrp="1"/>
          </p:cNvSpPr>
          <p:nvPr>
            <p:ph type="subTitle" idx="1"/>
          </p:nvPr>
        </p:nvSpPr>
        <p:spPr>
          <a:xfrm>
            <a:off x="446314" y="217714"/>
            <a:ext cx="9144000" cy="511629"/>
          </a:xfrm>
        </p:spPr>
        <p:txBody>
          <a:bodyPr/>
          <a:lstStyle/>
          <a:p>
            <a:pPr algn="l"/>
            <a:r>
              <a:rPr lang="en-US"/>
              <a:t>II. Method</a:t>
            </a:r>
          </a:p>
        </p:txBody>
      </p:sp>
      <p:sp>
        <p:nvSpPr>
          <p:cNvPr id="2" name="Subtitle 2">
            <a:extLst>
              <a:ext uri="{FF2B5EF4-FFF2-40B4-BE49-F238E27FC236}">
                <a16:creationId xmlns:a16="http://schemas.microsoft.com/office/drawing/2014/main" id="{0782E027-7E90-0FD9-681A-8F8B0D5180EF}"/>
              </a:ext>
            </a:extLst>
          </p:cNvPr>
          <p:cNvSpPr txBox="1">
            <a:spLocks/>
          </p:cNvSpPr>
          <p:nvPr/>
        </p:nvSpPr>
        <p:spPr>
          <a:xfrm>
            <a:off x="446314" y="811695"/>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2. LOW-LEVEL EXECUTOR</a:t>
            </a:r>
          </a:p>
        </p:txBody>
      </p:sp>
      <p:sp>
        <p:nvSpPr>
          <p:cNvPr id="6" name="Subtitle 2">
            <a:extLst>
              <a:ext uri="{FF2B5EF4-FFF2-40B4-BE49-F238E27FC236}">
                <a16:creationId xmlns:a16="http://schemas.microsoft.com/office/drawing/2014/main" id="{B6C91E9C-5605-C29F-B967-749479EB6455}"/>
              </a:ext>
            </a:extLst>
          </p:cNvPr>
          <p:cNvSpPr txBox="1">
            <a:spLocks/>
          </p:cNvSpPr>
          <p:nvPr/>
        </p:nvSpPr>
        <p:spPr>
          <a:xfrm>
            <a:off x="446314" y="1384317"/>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DYNAMIC DEMONSTRATION INJECTION</a:t>
            </a:r>
          </a:p>
        </p:txBody>
      </p:sp>
      <p:pic>
        <p:nvPicPr>
          <p:cNvPr id="7" name="Picture 6">
            <a:extLst>
              <a:ext uri="{FF2B5EF4-FFF2-40B4-BE49-F238E27FC236}">
                <a16:creationId xmlns:a16="http://schemas.microsoft.com/office/drawing/2014/main" id="{D19497F4-156D-63F5-64FF-513A2C59E598}"/>
              </a:ext>
            </a:extLst>
          </p:cNvPr>
          <p:cNvPicPr>
            <a:picLocks noChangeAspect="1"/>
          </p:cNvPicPr>
          <p:nvPr/>
        </p:nvPicPr>
        <p:blipFill>
          <a:blip r:embed="rId3"/>
          <a:stretch>
            <a:fillRect/>
          </a:stretch>
        </p:blipFill>
        <p:spPr>
          <a:xfrm>
            <a:off x="2545299" y="2076938"/>
            <a:ext cx="6458851" cy="381053"/>
          </a:xfrm>
          <a:prstGeom prst="rect">
            <a:avLst/>
          </a:prstGeom>
        </p:spPr>
      </p:pic>
      <p:sp>
        <p:nvSpPr>
          <p:cNvPr id="4" name="Subtitle 2">
            <a:extLst>
              <a:ext uri="{FF2B5EF4-FFF2-40B4-BE49-F238E27FC236}">
                <a16:creationId xmlns:a16="http://schemas.microsoft.com/office/drawing/2014/main" id="{B5F187B4-C328-B384-61BB-14A9ED341383}"/>
              </a:ext>
            </a:extLst>
          </p:cNvPr>
          <p:cNvSpPr txBox="1">
            <a:spLocks/>
          </p:cNvSpPr>
          <p:nvPr/>
        </p:nvSpPr>
        <p:spPr>
          <a:xfrm>
            <a:off x="446314" y="2755917"/>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C-GRPO OBJECTIVE</a:t>
            </a:r>
          </a:p>
        </p:txBody>
      </p:sp>
      <p:pic>
        <p:nvPicPr>
          <p:cNvPr id="8" name="Picture 7">
            <a:extLst>
              <a:ext uri="{FF2B5EF4-FFF2-40B4-BE49-F238E27FC236}">
                <a16:creationId xmlns:a16="http://schemas.microsoft.com/office/drawing/2014/main" id="{3E66E9DC-B535-F166-D87C-A506C03DA9DD}"/>
              </a:ext>
            </a:extLst>
          </p:cNvPr>
          <p:cNvPicPr>
            <a:picLocks noChangeAspect="1"/>
          </p:cNvPicPr>
          <p:nvPr/>
        </p:nvPicPr>
        <p:blipFill>
          <a:blip r:embed="rId4"/>
          <a:stretch>
            <a:fillRect/>
          </a:stretch>
        </p:blipFill>
        <p:spPr>
          <a:xfrm>
            <a:off x="1261388" y="3429000"/>
            <a:ext cx="9669224" cy="1076475"/>
          </a:xfrm>
          <a:prstGeom prst="rect">
            <a:avLst/>
          </a:prstGeom>
        </p:spPr>
      </p:pic>
      <p:pic>
        <p:nvPicPr>
          <p:cNvPr id="10" name="Picture 9">
            <a:extLst>
              <a:ext uri="{FF2B5EF4-FFF2-40B4-BE49-F238E27FC236}">
                <a16:creationId xmlns:a16="http://schemas.microsoft.com/office/drawing/2014/main" id="{49206A39-D0E7-744D-240D-9503045B0295}"/>
              </a:ext>
            </a:extLst>
          </p:cNvPr>
          <p:cNvPicPr>
            <a:picLocks noChangeAspect="1"/>
          </p:cNvPicPr>
          <p:nvPr/>
        </p:nvPicPr>
        <p:blipFill>
          <a:blip r:embed="rId5"/>
          <a:stretch>
            <a:fillRect/>
          </a:stretch>
        </p:blipFill>
        <p:spPr>
          <a:xfrm>
            <a:off x="1405955" y="4636797"/>
            <a:ext cx="2943415" cy="520851"/>
          </a:xfrm>
          <a:prstGeom prst="rect">
            <a:avLst/>
          </a:prstGeom>
        </p:spPr>
      </p:pic>
    </p:spTree>
    <p:extLst>
      <p:ext uri="{BB962C8B-B14F-4D97-AF65-F5344CB8AC3E}">
        <p14:creationId xmlns:p14="http://schemas.microsoft.com/office/powerpoint/2010/main" val="935736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504FD-4169-6B33-539D-64174198299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BB0A2CB-7AAC-6775-FFE7-6AACF4A52794}"/>
              </a:ext>
            </a:extLst>
          </p:cNvPr>
          <p:cNvSpPr>
            <a:spLocks noGrp="1"/>
          </p:cNvSpPr>
          <p:nvPr>
            <p:ph type="subTitle" idx="1"/>
          </p:nvPr>
        </p:nvSpPr>
        <p:spPr>
          <a:xfrm>
            <a:off x="446314" y="217714"/>
            <a:ext cx="9144000" cy="511629"/>
          </a:xfrm>
        </p:spPr>
        <p:txBody>
          <a:bodyPr/>
          <a:lstStyle/>
          <a:p>
            <a:pPr algn="l"/>
            <a:r>
              <a:rPr lang="en-US"/>
              <a:t>II. Method</a:t>
            </a:r>
          </a:p>
        </p:txBody>
      </p:sp>
      <p:sp>
        <p:nvSpPr>
          <p:cNvPr id="2" name="Subtitle 2">
            <a:extLst>
              <a:ext uri="{FF2B5EF4-FFF2-40B4-BE49-F238E27FC236}">
                <a16:creationId xmlns:a16="http://schemas.microsoft.com/office/drawing/2014/main" id="{CF6D0145-E681-3EC1-4BA4-FBD285C25FD1}"/>
              </a:ext>
            </a:extLst>
          </p:cNvPr>
          <p:cNvSpPr txBox="1">
            <a:spLocks/>
          </p:cNvSpPr>
          <p:nvPr/>
        </p:nvSpPr>
        <p:spPr>
          <a:xfrm>
            <a:off x="446314" y="811695"/>
            <a:ext cx="9144000" cy="5116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t>2. LOW-LEVEL EXECUTOR</a:t>
            </a:r>
          </a:p>
        </p:txBody>
      </p:sp>
      <p:pic>
        <p:nvPicPr>
          <p:cNvPr id="7" name="Picture 6">
            <a:extLst>
              <a:ext uri="{FF2B5EF4-FFF2-40B4-BE49-F238E27FC236}">
                <a16:creationId xmlns:a16="http://schemas.microsoft.com/office/drawing/2014/main" id="{5DE40B31-2AA3-A988-C2BC-AE85E8CABE81}"/>
              </a:ext>
            </a:extLst>
          </p:cNvPr>
          <p:cNvPicPr>
            <a:picLocks noChangeAspect="1"/>
          </p:cNvPicPr>
          <p:nvPr/>
        </p:nvPicPr>
        <p:blipFill>
          <a:blip r:embed="rId3"/>
          <a:stretch>
            <a:fillRect/>
          </a:stretch>
        </p:blipFill>
        <p:spPr>
          <a:xfrm>
            <a:off x="1424660" y="1405676"/>
            <a:ext cx="9342680" cy="5005007"/>
          </a:xfrm>
          <a:prstGeom prst="rect">
            <a:avLst/>
          </a:prstGeom>
        </p:spPr>
      </p:pic>
    </p:spTree>
    <p:extLst>
      <p:ext uri="{BB962C8B-B14F-4D97-AF65-F5344CB8AC3E}">
        <p14:creationId xmlns:p14="http://schemas.microsoft.com/office/powerpoint/2010/main" val="3440508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7F100-D950-4C95-E2C1-3F59A26EC4C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ADA57E8-18D9-AD28-BF21-C090B63ADDED}"/>
              </a:ext>
            </a:extLst>
          </p:cNvPr>
          <p:cNvSpPr>
            <a:spLocks noGrp="1"/>
          </p:cNvSpPr>
          <p:nvPr>
            <p:ph type="subTitle" idx="1"/>
          </p:nvPr>
        </p:nvSpPr>
        <p:spPr>
          <a:xfrm>
            <a:off x="446314" y="217714"/>
            <a:ext cx="9144000" cy="511629"/>
          </a:xfrm>
        </p:spPr>
        <p:txBody>
          <a:bodyPr/>
          <a:lstStyle/>
          <a:p>
            <a:pPr algn="l"/>
            <a:r>
              <a:rPr lang="en-US"/>
              <a:t>III. EXPERIEMENTAL RESULTS</a:t>
            </a:r>
          </a:p>
        </p:txBody>
      </p:sp>
      <p:pic>
        <p:nvPicPr>
          <p:cNvPr id="5" name="Picture 4">
            <a:extLst>
              <a:ext uri="{FF2B5EF4-FFF2-40B4-BE49-F238E27FC236}">
                <a16:creationId xmlns:a16="http://schemas.microsoft.com/office/drawing/2014/main" id="{E199F3EA-CFB5-9FCB-6653-2AADCEF86F48}"/>
              </a:ext>
            </a:extLst>
          </p:cNvPr>
          <p:cNvPicPr>
            <a:picLocks noChangeAspect="1"/>
          </p:cNvPicPr>
          <p:nvPr/>
        </p:nvPicPr>
        <p:blipFill>
          <a:blip r:embed="rId3"/>
          <a:stretch>
            <a:fillRect/>
          </a:stretch>
        </p:blipFill>
        <p:spPr>
          <a:xfrm>
            <a:off x="1189940" y="947391"/>
            <a:ext cx="9812119" cy="4963218"/>
          </a:xfrm>
          <a:prstGeom prst="rect">
            <a:avLst/>
          </a:prstGeom>
        </p:spPr>
      </p:pic>
    </p:spTree>
    <p:extLst>
      <p:ext uri="{BB962C8B-B14F-4D97-AF65-F5344CB8AC3E}">
        <p14:creationId xmlns:p14="http://schemas.microsoft.com/office/powerpoint/2010/main" val="3950109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B3779-F113-0CF9-DAB8-D1B4A0EE00B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DDEB13E-98A8-C60A-59C3-341BABD5942B}"/>
              </a:ext>
            </a:extLst>
          </p:cNvPr>
          <p:cNvSpPr>
            <a:spLocks noGrp="1"/>
          </p:cNvSpPr>
          <p:nvPr>
            <p:ph type="subTitle" idx="1"/>
          </p:nvPr>
        </p:nvSpPr>
        <p:spPr>
          <a:xfrm>
            <a:off x="446314" y="217714"/>
            <a:ext cx="9144000" cy="511629"/>
          </a:xfrm>
        </p:spPr>
        <p:txBody>
          <a:bodyPr/>
          <a:lstStyle/>
          <a:p>
            <a:pPr algn="l"/>
            <a:r>
              <a:rPr lang="en-US"/>
              <a:t>III. EXPERIEMENTAL RESULTS</a:t>
            </a:r>
          </a:p>
        </p:txBody>
      </p:sp>
      <p:pic>
        <p:nvPicPr>
          <p:cNvPr id="4" name="Picture 3">
            <a:extLst>
              <a:ext uri="{FF2B5EF4-FFF2-40B4-BE49-F238E27FC236}">
                <a16:creationId xmlns:a16="http://schemas.microsoft.com/office/drawing/2014/main" id="{FEA159F6-C576-940E-ED31-CA1D72E3DD7B}"/>
              </a:ext>
            </a:extLst>
          </p:cNvPr>
          <p:cNvPicPr>
            <a:picLocks noChangeAspect="1"/>
          </p:cNvPicPr>
          <p:nvPr/>
        </p:nvPicPr>
        <p:blipFill>
          <a:blip r:embed="rId3"/>
          <a:stretch>
            <a:fillRect/>
          </a:stretch>
        </p:blipFill>
        <p:spPr>
          <a:xfrm>
            <a:off x="1261388" y="2247735"/>
            <a:ext cx="9669224" cy="2362530"/>
          </a:xfrm>
          <a:prstGeom prst="rect">
            <a:avLst/>
          </a:prstGeom>
        </p:spPr>
      </p:pic>
    </p:spTree>
    <p:extLst>
      <p:ext uri="{BB962C8B-B14F-4D97-AF65-F5344CB8AC3E}">
        <p14:creationId xmlns:p14="http://schemas.microsoft.com/office/powerpoint/2010/main" val="2004864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438E7-D440-7CB7-780F-2B4332316F8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9F2C1AA-F8FE-6808-7C95-6516D09A395A}"/>
              </a:ext>
            </a:extLst>
          </p:cNvPr>
          <p:cNvSpPr>
            <a:spLocks noGrp="1"/>
          </p:cNvSpPr>
          <p:nvPr>
            <p:ph type="subTitle" idx="1"/>
          </p:nvPr>
        </p:nvSpPr>
        <p:spPr>
          <a:xfrm>
            <a:off x="446314" y="217714"/>
            <a:ext cx="9144000" cy="511629"/>
          </a:xfrm>
        </p:spPr>
        <p:txBody>
          <a:bodyPr/>
          <a:lstStyle/>
          <a:p>
            <a:pPr algn="l"/>
            <a:r>
              <a:rPr lang="en-US"/>
              <a:t>IV. CONCLUSION</a:t>
            </a:r>
          </a:p>
        </p:txBody>
      </p:sp>
      <p:sp>
        <p:nvSpPr>
          <p:cNvPr id="2" name="Subtitle 2">
            <a:extLst>
              <a:ext uri="{FF2B5EF4-FFF2-40B4-BE49-F238E27FC236}">
                <a16:creationId xmlns:a16="http://schemas.microsoft.com/office/drawing/2014/main" id="{CAAA82ED-C77F-656D-B3ED-4CAE31E94BA0}"/>
              </a:ext>
            </a:extLst>
          </p:cNvPr>
          <p:cNvSpPr txBox="1">
            <a:spLocks/>
          </p:cNvSpPr>
          <p:nvPr/>
        </p:nvSpPr>
        <p:spPr>
          <a:xfrm>
            <a:off x="446313" y="999912"/>
            <a:ext cx="11484953" cy="51162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a:t>- K²-Agent is a hierarchical framework that separates declarative (“knowing what”) and procedural (“knowing how”) knowledge.</a:t>
            </a:r>
          </a:p>
          <a:p>
            <a:pPr algn="just"/>
            <a:endParaRPr lang="en-US"/>
          </a:p>
          <a:p>
            <a:pPr algn="just"/>
            <a:r>
              <a:rPr lang="en-US"/>
              <a:t>- The high-level planner uses the SRLR loop to distill and continuously refine task knowledge from a single demonstration.</a:t>
            </a:r>
          </a:p>
          <a:p>
            <a:pPr algn="just"/>
            <a:endParaRPr lang="en-US"/>
          </a:p>
          <a:p>
            <a:pPr algn="just"/>
            <a:r>
              <a:rPr lang="en-US"/>
              <a:t>- The low-level executor learns precise actions through the efficient C-GRPO post-training algorithm.</a:t>
            </a:r>
          </a:p>
          <a:p>
            <a:pPr algn="just"/>
            <a:endParaRPr lang="en-US"/>
          </a:p>
          <a:p>
            <a:pPr algn="just"/>
            <a:r>
              <a:rPr lang="en-US"/>
              <a:t>- K²-Agent achieves SOTA performance on AndroidWorld and demonstrates strong dual generalization across backbones and benchmarks.</a:t>
            </a:r>
          </a:p>
        </p:txBody>
      </p:sp>
    </p:spTree>
    <p:extLst>
      <p:ext uri="{BB962C8B-B14F-4D97-AF65-F5344CB8AC3E}">
        <p14:creationId xmlns:p14="http://schemas.microsoft.com/office/powerpoint/2010/main" val="2249256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2691</Words>
  <Application>Microsoft Office PowerPoint</Application>
  <PresentationFormat>Widescreen</PresentationFormat>
  <Paragraphs>158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Hoang Ngoc Khai</dc:creator>
  <cp:lastModifiedBy>Hoang Ngoc Khai</cp:lastModifiedBy>
  <cp:revision>4</cp:revision>
  <dcterms:created xsi:type="dcterms:W3CDTF">2026-05-04T05:27:40Z</dcterms:created>
  <dcterms:modified xsi:type="dcterms:W3CDTF">2026-05-04T06:48:43Z</dcterms:modified>
</cp:coreProperties>
</file>